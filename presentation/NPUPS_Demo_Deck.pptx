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NPUPS / WorkForce: Flutter web + Node REST API + PostgreSQL/Supabase, deployed on Coolify. This deck covers the full API surface, the payroll pipeline, an honest security assessment, and the roadmap to remove hard-coded users, add LDAP, and back up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Municipal HR/payroll. Sensitive data: names, DOB, national ID, NIS, passport, bank details, wage rates. 26 endpoints, 9 roles, 9 pipeline stages.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nginx proxies /api/* to the internal Node service on the same origin. A stray build-time API_BASE_URL on the same host is ignored so the browser is never pointed at an internal-only 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Stages from lib/models/timesheet_model.dart. advanceStage / rejectToPreviousStage. Persisted via POST /api/timesheets/:id/approvals.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handlers in server/index.js. Client supplies primary keys on create. Node shapes rows to match Flutter model 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Response path mirrors the request. shapeWorker/shapeTimesheet convert DB rows to the JSON the Flutter models parse.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Talking point: the secure architecture is already designed and in the repo. The remaining work is to make it the live path — exactly what the roadmap covers.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Removing hard-coded users is cheap; the security value is Phase 2 (server enforcement + RLS). Estimates are for one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Option A: fastest to a production-safe result, keeps credentials out of the app, reuses the Phase-2 JWT/RLS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DB is PostgreSQL via Supabase (supabase.fireydev.com — likely self-hosted). Managed backups if hosted; pg_dump + cron + offsite object storage otherwise.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walkthrough HTML open in a second tab as a fallback if the live app misbehaves.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confident: engineering quality is high, the secure design exists, and the path to production is short and costed.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4884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4C7DF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600200" y="2240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NPUPS · WorkForce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269748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&amp; Payroll Platform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1572768" y="388620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Brief — architecture, APIs, security posture &amp; the road to production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72768" y="4892040"/>
            <a:ext cx="1348740" cy="384048"/>
          </a:xfrm>
          <a:prstGeom prst="roundRect">
            <a:avLst>
              <a:gd name="adj" fmla="val 50000"/>
            </a:avLst>
          </a:prstGeom>
          <a:solidFill>
            <a:srgbClr val="2A3B7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572768" y="4892040"/>
            <a:ext cx="13487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web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122676" y="48920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A3B7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122676" y="4892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Node/Express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52644" y="4892040"/>
            <a:ext cx="2308860" cy="384048"/>
          </a:xfrm>
          <a:prstGeom prst="roundRect">
            <a:avLst>
              <a:gd name="adj" fmla="val 50000"/>
            </a:avLst>
          </a:prstGeom>
          <a:solidFill>
            <a:srgbClr val="2A3B7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52644" y="4892040"/>
            <a:ext cx="23088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Supabase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62672" y="48920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2A3B7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62672" y="4892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Coolify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NPUPS is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replacement for paper timesheets across Trinidad &amp; Tobago municipal corporations — worker registry, a 9-stage payroll approval pipeline, roster/attendance, back-pay, and a tamper-evident audit log.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32004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stages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30632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246120" y="32004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30632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943600" y="32004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41080" y="3063240"/>
            <a:ext cx="2514600" cy="1371600"/>
          </a:xfrm>
          <a:prstGeom prst="roundRect">
            <a:avLst>
              <a:gd name="adj" fmla="val 60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41080" y="32004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641080" y="397764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docs / worker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0" y="1371600"/>
            <a:ext cx="4325112" cy="3063240"/>
          </a:xfrm>
          <a:prstGeom prst="roundRect">
            <a:avLst>
              <a:gd name="adj" fmla="val 26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589520" y="1572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208483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234086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3.x web (dart2js), nginx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589520" y="266090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589520" y="29169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 + Express 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0" y="3236976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349300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via Supabase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589520" y="38130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40690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on Coolify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85800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web app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72968" y="2743200"/>
            <a:ext cx="292608" cy="274320"/>
          </a:xfrm>
          <a:prstGeom prst="rightArrow">
            <a:avLst/>
          </a:prstGeom>
          <a:solidFill>
            <a:srgbClr val="4C7DF0"/>
          </a:solidFill>
          <a:ln/>
        </p:spPr>
      </p:sp>
      <p:sp>
        <p:nvSpPr>
          <p:cNvPr id="8" name="Shape 6"/>
          <p:cNvSpPr/>
          <p:nvPr/>
        </p:nvSpPr>
        <p:spPr>
          <a:xfrm>
            <a:off x="3483864" y="21945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21024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3621024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bundle · proxies /api/*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08192" y="2743200"/>
            <a:ext cx="292608" cy="274320"/>
          </a:xfrm>
          <a:prstGeom prst="rightArrow">
            <a:avLst/>
          </a:prstGeom>
          <a:solidFill>
            <a:srgbClr val="4C7DF0"/>
          </a:solidFill>
          <a:ln/>
        </p:spPr>
      </p:sp>
      <p:sp>
        <p:nvSpPr>
          <p:cNvPr id="12" name="Shape 10"/>
          <p:cNvSpPr/>
          <p:nvPr/>
        </p:nvSpPr>
        <p:spPr>
          <a:xfrm>
            <a:off x="6419088" y="21945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4C7DF0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56248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 / Express API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556248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 · internal-only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43416" y="2743200"/>
            <a:ext cx="292608" cy="274320"/>
          </a:xfrm>
          <a:prstGeom prst="rightArrow">
            <a:avLst/>
          </a:prstGeom>
          <a:solidFill>
            <a:srgbClr val="4C7DF0"/>
          </a:solidFill>
          <a:ln/>
        </p:spPr>
      </p:sp>
      <p:sp>
        <p:nvSpPr>
          <p:cNvPr id="16" name="Shape 14"/>
          <p:cNvSpPr/>
          <p:nvPr/>
        </p:nvSpPr>
        <p:spPr>
          <a:xfrm>
            <a:off x="9354312" y="219456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91472" y="2514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9491472" y="30175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154680" y="3611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/api/* same origin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73252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anon key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297680"/>
            <a:ext cx="11091672" cy="1737360"/>
          </a:xfrm>
          <a:prstGeom prst="roundRect">
            <a:avLst>
              <a:gd name="adj" fmla="val 473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480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points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by default —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app talks to its own origin; nginx proxies /api/* to the internal Node service.
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Internal-only API —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api container has no public ingress; only web is exposed. This is the main control today.
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—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backend configured the client returns empty results instead of throwing.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9-stage payroll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013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0020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119372" y="1929384"/>
            <a:ext cx="109728" cy="18288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233672" y="1600200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98264" y="18013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398264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965192" y="160020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804404" y="1929384"/>
            <a:ext cx="109728" cy="18288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8704" y="1600200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83296" y="180136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83296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650224" y="160020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28986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3232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269748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Review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119372" y="3026664"/>
            <a:ext cx="109728" cy="18288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3" name="Shape 21"/>
          <p:cNvSpPr/>
          <p:nvPr/>
        </p:nvSpPr>
        <p:spPr>
          <a:xfrm>
            <a:off x="4233672" y="2697480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98264" y="28986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C77C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98264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965192" y="269748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Processing</a:t>
            </a:r>
            <a:endParaRPr lang="en-US" sz="1450" dirty="0"/>
          </a:p>
        </p:txBody>
      </p:sp>
      <p:sp>
        <p:nvSpPr>
          <p:cNvPr id="27" name="Shape 25"/>
          <p:cNvSpPr/>
          <p:nvPr/>
        </p:nvSpPr>
        <p:spPr>
          <a:xfrm>
            <a:off x="7804404" y="3026664"/>
            <a:ext cx="109728" cy="18288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8" name="Shape 26"/>
          <p:cNvSpPr/>
          <p:nvPr/>
        </p:nvSpPr>
        <p:spPr>
          <a:xfrm>
            <a:off x="7918704" y="2697480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83296" y="289864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083296" y="2898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650224" y="269748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Processing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13232" y="39959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13232" y="3995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280160" y="379476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for Payment</a:t>
            </a:r>
            <a:endParaRPr lang="en-US" sz="1450" dirty="0"/>
          </a:p>
        </p:txBody>
      </p:sp>
      <p:sp>
        <p:nvSpPr>
          <p:cNvPr id="36" name="Shape 34"/>
          <p:cNvSpPr/>
          <p:nvPr/>
        </p:nvSpPr>
        <p:spPr>
          <a:xfrm>
            <a:off x="4119372" y="4123944"/>
            <a:ext cx="109728" cy="18288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37" name="Shape 35"/>
          <p:cNvSpPr/>
          <p:nvPr/>
        </p:nvSpPr>
        <p:spPr>
          <a:xfrm>
            <a:off x="4233672" y="3794760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98264" y="39959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398264" y="3995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4965192" y="379476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Exported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7804404" y="4123944"/>
            <a:ext cx="109728" cy="182880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42" name="Shape 40"/>
          <p:cNvSpPr/>
          <p:nvPr/>
        </p:nvSpPr>
        <p:spPr>
          <a:xfrm>
            <a:off x="7918704" y="3794760"/>
            <a:ext cx="35661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083296" y="3995928"/>
            <a:ext cx="438912" cy="43891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8083296" y="399592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8650224" y="3794760"/>
            <a:ext cx="2697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Cheque / Direct Deposit</a:t>
            </a:r>
            <a:endParaRPr lang="en-US" sz="1450" dirty="0"/>
          </a:p>
        </p:txBody>
      </p:sp>
      <p:sp>
        <p:nvSpPr>
          <p:cNvPr id="46" name="Shape 44"/>
          <p:cNvSpPr/>
          <p:nvPr/>
        </p:nvSpPr>
        <p:spPr>
          <a:xfrm>
            <a:off x="548640" y="507492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868680" y="5230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an approval record (reviewer, role, note, timestamp) with an auto-incrementing sequence.     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 </a:t>
            </a:r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bounces the timesheet back one stage with a mandatory note. History is append-only.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REST surface — 26 endpoints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64208"/>
            <a:ext cx="566928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642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682496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212848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+ PII. List/get/create/update, soft-delete (is_active=false). Create seeds 5 required docs.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463040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1880" y="1664208"/>
            <a:ext cx="566928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11880" y="16642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70248" y="1682496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212848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List/create/patch stage &amp; 14-day grid; append approvals with auto sequence.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463040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664208"/>
            <a:ext cx="566928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6642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50608" y="1682496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Back-pay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212848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+ line items (old/new wage &amp; COLA per fortnight); status updates.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89720" y="1463040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72600" y="1664208"/>
            <a:ext cx="566928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72600" y="1664208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030968" y="1682496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372600" y="2212848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Per-corporation settings + per-day presence/absence capture.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58184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959352"/>
            <a:ext cx="566928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395935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3977640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4507992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entries with field changes, attachments &amp; a hash chain.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29000" y="3758184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11880" y="3959352"/>
            <a:ext cx="566928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11880" y="395935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4270248" y="3977640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Allowances / Docs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3611880" y="4507992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allowances (add/update/delete) + upsert document status.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09360" y="3758184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92240" y="3959352"/>
            <a:ext cx="566928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395935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7150608" y="3977640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Replacements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4507992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+ upsert worker replacements (days missed, reason).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189720" y="3758184"/>
            <a:ext cx="2761488" cy="2148840"/>
          </a:xfrm>
          <a:prstGeom prst="roundRect">
            <a:avLst>
              <a:gd name="adj" fmla="val 383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372600" y="3959352"/>
            <a:ext cx="566928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372600" y="3959352"/>
            <a:ext cx="566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0030968" y="3977640"/>
            <a:ext cx="1801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9372600" y="4507992"/>
            <a:ext cx="23957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liveness (no DB) · /ready probes Supabase (3s timeout).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LIFECYCLE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call flows end-to-end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7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81635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816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/api/workers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3101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data store issues the request to its own origin.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18688" y="2697480"/>
            <a:ext cx="237744" cy="256032"/>
          </a:xfrm>
          <a:prstGeom prst="rightArrow">
            <a:avLst/>
          </a:prstGeom>
          <a:solidFill>
            <a:srgbClr val="4C7DF0"/>
          </a:solidFill>
          <a:ln/>
        </p:spPr>
      </p:sp>
      <p:sp>
        <p:nvSpPr>
          <p:cNvPr id="11" name="Shape 9"/>
          <p:cNvSpPr/>
          <p:nvPr/>
        </p:nvSpPr>
        <p:spPr>
          <a:xfrm>
            <a:off x="3483864" y="16002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666744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C7D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666744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nginx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66744" y="281635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66744" y="2816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 /api/workers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666744" y="33101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bundle server forwards /api/* to the internal API.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2697480"/>
            <a:ext cx="237744" cy="256032"/>
          </a:xfrm>
          <a:prstGeom prst="rightArrow">
            <a:avLst/>
          </a:prstGeom>
          <a:solidFill>
            <a:srgbClr val="4C7DF0"/>
          </a:solidFill>
          <a:ln/>
        </p:spPr>
      </p:sp>
      <p:sp>
        <p:nvSpPr>
          <p:cNvPr id="18" name="Shape 16"/>
          <p:cNvSpPr/>
          <p:nvPr/>
        </p:nvSpPr>
        <p:spPr>
          <a:xfrm>
            <a:off x="6419088" y="16002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4C7DF0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601968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API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601968" y="281635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0B102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01968" y="2816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 Supabase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601968" y="33101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workers + documents + allowances, shapes to model JSON.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089136" y="2697480"/>
            <a:ext cx="237744" cy="256032"/>
          </a:xfrm>
          <a:prstGeom prst="rightArrow">
            <a:avLst/>
          </a:prstGeom>
          <a:solidFill>
            <a:srgbClr val="4C7DF0"/>
          </a:solidFill>
          <a:ln/>
        </p:spPr>
      </p:sp>
      <p:sp>
        <p:nvSpPr>
          <p:cNvPr id="25" name="Shape 23"/>
          <p:cNvSpPr/>
          <p:nvPr/>
        </p:nvSpPr>
        <p:spPr>
          <a:xfrm>
            <a:off x="9354312" y="1600200"/>
            <a:ext cx="2651760" cy="246888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9537192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9537192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37192" y="2816352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0B102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537192" y="2816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rows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9537192" y="331012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returns rows over the shared Supabase client.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4348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868680" y="4572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Errors: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handler returns 500 {error, path}. Today it echoes raw Postgres messages — flagged as finding H-6 to sanitise before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95360" y="566928"/>
            <a:ext cx="3044952" cy="1371600"/>
          </a:xfrm>
          <a:prstGeom prst="roundRect">
            <a:avLst>
              <a:gd name="adj" fmla="val 6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0" y="71323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1280160"/>
            <a:ext cx="2862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production-ready for real PII/payroll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0574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 is wiring, not knowledge: a secure design (Supabase Auth + Postgres row-level security) already exists in the repo — but it is dormant, and the live path has no server-side auth.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685800" cy="566928"/>
          </a:xfrm>
          <a:prstGeom prst="roundRect">
            <a:avLst>
              <a:gd name="adj" fmla="val 12903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2004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32004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has no auth — every /api/* route is reachable with no token; GET /api/workers returns all unmasked PII.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685800" cy="566928"/>
          </a:xfrm>
          <a:prstGeom prst="roundRect">
            <a:avLst>
              <a:gd name="adj" fmla="val 12903"/>
            </a:avLst>
          </a:prstGeom>
          <a:solidFill>
            <a:srgbClr val="C039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862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8862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is client-side only — hard-coded credentials compiled into the browser bundle; the API is unconstrained.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685800" cy="566928"/>
          </a:xfrm>
          <a:prstGeom prst="roundRect">
            <a:avLst>
              <a:gd name="adj" fmla="val 12903"/>
            </a:avLst>
          </a:prstGeom>
          <a:solidFill>
            <a:srgbClr val="C039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720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45720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only in the UI — switchRole() assumes any role with no re-auth; the API enforces no roles.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685800" cy="566928"/>
          </a:xfrm>
          <a:prstGeom prst="roundRect">
            <a:avLst>
              <a:gd name="adj" fmla="val 12903"/>
            </a:avLst>
          </a:prstGeom>
          <a:solidFill>
            <a:srgbClr val="C039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25780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525780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is forgeable — the SHA-256 hash chain is computed client-side; the server stores whatever it is sent.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52560" y="2057400"/>
            <a:ext cx="2587752" cy="3886200"/>
          </a:xfrm>
          <a:prstGeom prst="roundRect">
            <a:avLst>
              <a:gd name="adj" fmla="val 3180"/>
            </a:avLst>
          </a:prstGeom>
          <a:solidFill>
            <a:srgbClr val="2A3B76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23544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true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2606040"/>
            <a:ext cx="2286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today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Login lockout (5→2min)
· 30-min session timeout
· Soft-deletes keep history
· Internal-only API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findings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 key in source, RLS not enforced, open CORS, no HTTPS/HSTS, no security headers.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write-up: security-audit/SECURITY_AUDIT_REPORT.md (+ .docx / .pptx)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hard-coded users → real auth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users live in lib/services/auth_service.dart (_demoAccounts + switchRole). Removing them only matters alongside server-side enforcement — otherwise the API is still open.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2267712"/>
            <a:ext cx="502920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2267712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488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real users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148840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app_users; roles &amp; corporations from schema.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966960" y="2295144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66960" y="2295144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days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017520"/>
            <a:ext cx="502920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3232" y="30175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2898648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Auth as sole gate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898648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to SupabaseAuthService; delete _demoAccounts &amp; switchRole.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966960" y="3044952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66960" y="30449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48456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767328"/>
            <a:ext cx="502920" cy="402336"/>
          </a:xfrm>
          <a:prstGeom prst="roundRect">
            <a:avLst>
              <a:gd name="adj" fmla="val 22727"/>
            </a:avLst>
          </a:prstGeom>
          <a:solidFill>
            <a:srgbClr val="4C7D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767328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64845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Server-side enforcement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3648456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JWT on every /api/*; RLS per-user; role checks per stage.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66960" y="3794760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4C7D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966960" y="379476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weeks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398264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4517136"/>
            <a:ext cx="502920" cy="402336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4517136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439826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4398264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CORS lock, HTTPS/HSTS, validation, rate limit, rotate key.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966960" y="4544568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966960" y="454456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148072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3232" y="5266944"/>
            <a:ext cx="502920" cy="402336"/>
          </a:xfrm>
          <a:prstGeom prst="roundRect">
            <a:avLst>
              <a:gd name="adj" fmla="val 22727"/>
            </a:avLst>
          </a:prstGeom>
          <a:solidFill>
            <a:srgbClr val="1E9E5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13232" y="5266944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417320" y="5148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LDAP / AD SSO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754880" y="5148072"/>
            <a:ext cx="5074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sign-in (see next slide).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9966960" y="5294376"/>
            <a:ext cx="1508760" cy="347472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966960" y="5294376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Production-hardened baseline (Phases 0–3): ~3–4 weeks · with LDAP: ~5–8 weeks — 1 engineer, ranges cover IT coordination.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SIGN-IN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LDAP / Active Directory options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orgs typically run Active Directory. Three ways to connect it: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6576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084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9E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SAML / OIDC bridge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9808" y="27889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808" y="27889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3246120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AD with Azure AD / ADFS as an OIDC/SAML IdP; connect to Supabase SSO. App keeps issuing Supabase JWTs.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343400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— no raw creds in the app; MFA comes free. Needs Supabase Pro +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49808" y="5029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5029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52544" y="1874520"/>
            <a:ext cx="36576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53712" y="2084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53712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221224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 LDAP bind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2880360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passport-ldapauth / ldapjs against AD; the API mints its own JWT on success.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53712" y="3977640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IdP dependency, but the app handles credentials &amp; session logic. Needs a DC route.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53712" y="5029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53712" y="5029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56448" y="1874520"/>
            <a:ext cx="3657600" cy="35661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357616" y="20848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57616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9025128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Keycloak in front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57616" y="2880360"/>
            <a:ext cx="32552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Keycloak, federate to AD via LDAP, expose OIDC to the app.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57616" y="3977640"/>
            <a:ext cx="3255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flexible/portable; adds a component to operate.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357616" y="502920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357616" y="5029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weeks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schedule risk in all three is IT coordination (DC route / IdP metadata) — start that conversation first.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backup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2148840"/>
          </a:xfrm>
          <a:prstGeom prst="roundRect">
            <a:avLst>
              <a:gd name="adj" fmla="val 383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Managed (Supabase platform)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5074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Automated daily backups (Pro plan).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Point-in-Time Recovery on higher tiers — recommended before real payroll data.
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Restore from the Supabase dashboard (Database → Backups).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68112" cy="2148840"/>
          </a:xfrm>
          <a:prstGeom prst="roundRect">
            <a:avLst>
              <a:gd name="adj" fmla="val 383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/ self-hosted (works everywhere)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0" y="2057400"/>
            <a:ext cx="5029200" cy="1325880"/>
          </a:xfrm>
          <a:prstGeom prst="roundRect">
            <a:avLst>
              <a:gd name="adj" fmla="val 4138"/>
            </a:avLst>
          </a:prstGeom>
          <a:solidFill>
            <a:srgbClr val="0B10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214884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pg_dump "postgresql://…@HOST:5432/postgres" \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--format=custom --no-owner \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--file="npups_$(date +%Y%m%d).dump"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pg_restore --clean --if-exists \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--dbname="…" npups_20260902.dump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11091672" cy="2286000"/>
          </a:xfrm>
          <a:prstGeom prst="roundRect">
            <a:avLst>
              <a:gd name="adj" fmla="val 3600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checklist before production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77240" y="44074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3-2-1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681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copies, 2 media, 1 offsite — nightly dumps to object storage.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0" y="44074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8912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(WORM)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754880" y="4681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Object-lock/versioning so backups can't be altered — matters most for the audit log.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01000" y="440740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00100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4389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66760" y="468172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gpg/SSE at rest — dumps contain full PII.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77240" y="51846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84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166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restores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458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to a scratch DB monthly; verify the audit hash chain.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89120" y="51846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389120" y="5184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5166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754880" y="5458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30 daily + 12 monthly; align to records law.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01000" y="518464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01000" y="5184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366760" y="51663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in a vault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366760" y="54589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DB URL out of the repo (chmod 600 / vault).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flow cheat-sheet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7680960" cy="512064"/>
          </a:xfrm>
          <a:prstGeom prst="roundRect">
            <a:avLst>
              <a:gd name="adj" fmla="val 16071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91056"/>
            <a:ext cx="365760" cy="347472"/>
          </a:xfrm>
          <a:prstGeom prst="roundRect">
            <a:avLst>
              <a:gd name="adj" fmla="val 23684"/>
            </a:avLst>
          </a:prstGeom>
          <a:solidFill>
            <a:srgbClr val="4C7D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59105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50876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admin@workforce.app / admin123 (see CLAUDE.md).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12264"/>
            <a:ext cx="7680960" cy="512064"/>
          </a:xfrm>
          <a:prstGeom prst="roundRect">
            <a:avLst>
              <a:gd name="adj" fmla="val 16071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2194560"/>
            <a:ext cx="365760" cy="347472"/>
          </a:xfrm>
          <a:prstGeom prst="roundRect">
            <a:avLst>
              <a:gd name="adj" fmla="val 23684"/>
            </a:avLst>
          </a:prstGeom>
          <a:solidFill>
            <a:srgbClr val="4C7D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3232" y="21945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211226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registry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211226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worker → documents + allowances.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15768"/>
            <a:ext cx="7680960" cy="512064"/>
          </a:xfrm>
          <a:prstGeom prst="roundRect">
            <a:avLst>
              <a:gd name="adj" fmla="val 16071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3232" y="2798064"/>
            <a:ext cx="365760" cy="347472"/>
          </a:xfrm>
          <a:prstGeom prst="roundRect">
            <a:avLst>
              <a:gd name="adj" fmla="val 23684"/>
            </a:avLst>
          </a:prstGeom>
          <a:solidFill>
            <a:srgbClr val="4C7D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279806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157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Timesheet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7157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14-day fortnight grid → submit.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19272"/>
            <a:ext cx="7680960" cy="512064"/>
          </a:xfrm>
          <a:prstGeom prst="roundRect">
            <a:avLst>
              <a:gd name="adj" fmla="val 16071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3401568"/>
            <a:ext cx="365760" cy="347472"/>
          </a:xfrm>
          <a:prstGeom prst="roundRect">
            <a:avLst>
              <a:gd name="adj" fmla="val 23684"/>
            </a:avLst>
          </a:prstGeom>
          <a:solidFill>
            <a:srgbClr val="4C7D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" y="34015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33192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pipeline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3319272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→ HR → Accounts; show a rejection bouncing back.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22776"/>
            <a:ext cx="7680960" cy="512064"/>
          </a:xfrm>
          <a:prstGeom prst="roundRect">
            <a:avLst>
              <a:gd name="adj" fmla="val 16071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4005072"/>
            <a:ext cx="365760" cy="347472"/>
          </a:xfrm>
          <a:prstGeom prst="roundRect">
            <a:avLst>
              <a:gd name="adj" fmla="val 23684"/>
            </a:avLst>
          </a:prstGeom>
          <a:solidFill>
            <a:srgbClr val="4C7DF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400507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234440" y="392277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Back-pay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3657600" y="3922776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rate change producing line items.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526280"/>
            <a:ext cx="7680960" cy="512064"/>
          </a:xfrm>
          <a:prstGeom prst="roundRect">
            <a:avLst>
              <a:gd name="adj" fmla="val 16071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4608576"/>
            <a:ext cx="365760" cy="347472"/>
          </a:xfrm>
          <a:prstGeom prst="roundRect">
            <a:avLst>
              <a:gd name="adj" fmla="val 23684"/>
            </a:avLst>
          </a:prstGeom>
          <a:solidFill>
            <a:srgbClr val="4C7DF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3232" y="460857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34440" y="45262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657600" y="4526280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hash-chained, append-only trail.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5129784"/>
            <a:ext cx="7680960" cy="512064"/>
          </a:xfrm>
          <a:prstGeom prst="roundRect">
            <a:avLst>
              <a:gd name="adj" fmla="val 16071"/>
            </a:avLst>
          </a:prstGeom>
          <a:solidFill>
            <a:srgbClr val="F1F5FB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" y="5212080"/>
            <a:ext cx="365760" cy="347472"/>
          </a:xfrm>
          <a:prstGeom prst="roundRect">
            <a:avLst>
              <a:gd name="adj" fmla="val 23684"/>
            </a:avLst>
          </a:prstGeom>
          <a:solidFill>
            <a:srgbClr val="4C7DF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13232" y="521208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234440" y="5129784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3657600" y="5129784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posture + roadmap (slides 7–10).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412480" y="1508760"/>
            <a:ext cx="3227832" cy="4160520"/>
          </a:xfrm>
          <a:prstGeom prst="roundRect">
            <a:avLst>
              <a:gd name="adj" fmla="val 25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6B8">
                <a:alpha val="2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641080" y="1737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 assets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8641080" y="2148840"/>
            <a:ext cx="2788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deck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presentation/platform-walkthrough.html — self-contained, keyboard-navigable.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DEMO_BRIEF.md — every API, flow diagram, security &amp; backup detail.
</a:t>
            </a:r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security-audit/ — report + .docx + .pptx.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C7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MESSAGE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platform with a real, designed-in security model — the remaining work is to make it the live path.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~3–4 weeks to a production-hardened baseline · +2–4 weeks for LDAP.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NPUPS · WorkForce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NPUPS / WorkForce — Demo Deck</dc:title>
  <dc:subject>PptxGenJS Presentation</dc:subject>
  <dc:creator>NPUPS</dc:creator>
  <cp:lastModifiedBy>NPUPS</cp:lastModifiedBy>
  <cp:revision>1</cp:revision>
  <dcterms:created xsi:type="dcterms:W3CDTF">2026-09-02T16:37:43Z</dcterms:created>
  <dcterms:modified xsi:type="dcterms:W3CDTF">2026-09-02T16:37:43Z</dcterms:modified>
</cp:coreProperties>
</file>