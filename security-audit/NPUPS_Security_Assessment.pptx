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Findings</c:v>
                </c:pt>
              </c:strCache>
            </c:strRef>
          </c:tx>
          <c:spPr>
            <a:solidFill>
              <a:srgbClr val="E23A4E"/>
            </a:solidFill>
            <a:effectLst/>
          </c:spPr>
          <c:invertIfNegative val="0"/>
          <c:dLbls>
            <c:numFmt formatCode="#,##0" sourceLinked="0"/>
            <c:txPr>
              <a:bodyPr/>
              <a:lstStyle/>
              <a:p>
                <a:pPr>
                  <a:defRPr b="0" i="0" strike="noStrike" sz="1300" u="none">
                    <a:solidFill>
                      <a:srgbClr val="EAF0FB"/>
                    </a:solidFill>
                    <a:latin typeface="Calibri"/>
                  </a:defRPr>
                </a:pPr>
              </a:p>
            </c:txPr>
            <c:showLegendKey val="0"/>
            <c:showVal val="1"/>
            <c:showCatName val="0"/>
            <c:showSerName val="0"/>
            <c:showPercent val="0"/>
            <c:showBubbleSize val="0"/>
            <c:showLeaderLines val="0"/>
          </c:dLbls>
          <c:dPt>
            <c:idx val="0"/>
            <c:invertIfNegative val="0"/>
            <c:bubble3D val="0"/>
            <c:spPr>
              <a:solidFill>
                <a:srgbClr val="E23A4E"/>
              </a:solidFill>
              <a:effectLst/>
            </c:spPr>
          </c:dPt>
          <c:dPt>
            <c:idx val="1"/>
            <c:invertIfNegative val="0"/>
            <c:bubble3D val="0"/>
            <c:spPr>
              <a:solidFill>
                <a:srgbClr val="E8912B"/>
              </a:solidFill>
              <a:effectLst/>
            </c:spPr>
          </c:dPt>
          <c:dPt>
            <c:idx val="2"/>
            <c:invertIfNegative val="0"/>
            <c:bubble3D val="0"/>
            <c:spPr>
              <a:solidFill>
                <a:srgbClr val="E4C23B"/>
              </a:solidFill>
              <a:effectLst/>
            </c:spPr>
          </c:dPt>
          <c:dPt>
            <c:idx val="3"/>
            <c:invertIfNegative val="0"/>
            <c:bubble3D val="0"/>
            <c:spPr>
              <a:solidFill>
                <a:srgbClr val="3FB27F"/>
              </a:solidFill>
              <a:effectLst/>
            </c:spPr>
          </c:dPt>
          <c:cat>
            <c:multiLvlStrRef>
              <c:f>Sheet1!$A$2:$A$5</c:f>
              <c:multiLvlStrCache>
                <c:ptCount val="4"/>
                <c:lvl>
                  <c:pt idx="0">
                    <c:v>Critical</c:v>
                  </c:pt>
                  <c:pt idx="1">
                    <c:v>High</c:v>
                  </c:pt>
                  <c:pt idx="2">
                    <c:v>Medium</c:v>
                  </c:pt>
                  <c:pt idx="3">
                    <c:v>Low</c:v>
                  </c:pt>
                </c:lvl>
              </c:multiLvlStrCache>
            </c:multiLvlStrRef>
          </c:cat>
          <c:val>
            <c:numRef>
              <c:f>Sheet1!$B$2:$B$5</c:f>
              <c:numCache>
                <c:formatCode>General</c:formatCode>
                <c:ptCount val="4"/>
                <c:pt idx="0">
                  <c:v>4</c:v>
                </c:pt>
                <c:pt idx="1">
                  <c:v>6</c:v>
                </c:pt>
                <c:pt idx="2">
                  <c:v>5</c:v>
                </c:pt>
                <c:pt idx="3">
                  <c:v>4</c:v>
                </c:pt>
              </c:numCache>
            </c:numRef>
          </c:val>
        </c:ser>
        <c:dLbls>
          <c:numFmt formatCode="#,##0" sourceLinked="0"/>
          <c:txPr>
            <a:bodyPr/>
            <a:lstStyle/>
            <a:p>
              <a:pPr>
                <a:defRPr b="0" i="0" strike="noStrike" sz="1300" u="none">
                  <a:solidFill>
                    <a:srgbClr val="EAF0FB"/>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EAF0FB"/>
                </a:solidFill>
                <a:latin typeface="Calibri"/>
              </a:defRPr>
            </a:pPr>
            <a:endParaRPr lang="en-US"/>
          </a:p>
        </c:txPr>
        <c:crossAx val="2094734552"/>
        <c:crosses val="autoZero"/>
        <c:auto val="1"/>
        <c:lblAlgn val="ctr"/>
        <c:noMultiLvlLbl val="1"/>
      </c:catAx>
      <c:valAx>
        <c:axId val="2094734552"/>
        <c:scaling>
          <c:orientation val="minMax"/>
          <c:max val="7"/>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E1524"/>
        </a:solidFill>
        <a:ln>
          <a:noFill/>
        </a:ln>
        <a:effectLst/>
      </c:spPr>
    </c:plotArea>
    <c:plotVisOnly val="1"/>
    <c:dispBlanksAs val="span"/>
  </c:chart>
  <c:spPr>
    <a:solidFill>
      <a:srgbClr val="0E1524"/>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framing up front: the platform is currently CRITICAL risk and not safe for real data. This deck explains why, how confident we are, what security level it is at, and what the network team should implement.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agenda items are clickable hyperlinks to their section slides — this is the interactive navigation.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the three questions directly and honestly: how secure (critical), what level (1 of 5), how sure (95%).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insight — the secure model B exists but is dormant while the insecure model A serves live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distribution. Critical findings are all authentication/authorization/audit-integrity failures — the foundational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data inventory drives home the confidentiality impact — this is real employee PII, banking, and payroll.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Maturity model gives a shared vocabulary. We are at 1; realistic target after remediation is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Prioritised feature roadmap. P0 items are non-negotiable before touching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concrete network-team checklist. Emphasise these are necessary but not sufficient — app auth still must be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an honest, actionable note: not secure now, clear path forward, high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524"/>
        </a:solidFill>
      </p:bgPr>
    </p:bg>
    <p:spTree>
      <p:nvGrpSpPr>
        <p:cNvPr id="1" name=""/>
        <p:cNvGrpSpPr/>
        <p:nvPr/>
      </p:nvGrpSpPr>
      <p:grpSpPr>
        <a:xfrm>
          <a:off x="0" y="0"/>
          <a:ext cx="0" cy="0"/>
          <a:chOff x="0" y="0"/>
          <a:chExt cx="0" cy="0"/>
        </a:xfrm>
      </p:grpSpPr>
      <p:sp>
        <p:nvSpPr>
          <p:cNvPr id="2" name="Shape 0"/>
          <p:cNvSpPr/>
          <p:nvPr/>
        </p:nvSpPr>
        <p:spPr>
          <a:xfrm>
            <a:off x="-1463040" y="-1463040"/>
            <a:ext cx="2926080" cy="2926080"/>
          </a:xfrm>
          <a:prstGeom prst="roundRect">
            <a:avLst>
              <a:gd name="adj" fmla="val 50000"/>
            </a:avLst>
          </a:prstGeom>
          <a:solidFill>
            <a:srgbClr val="2F3C7E">
              <a:alpha val="30000"/>
            </a:srgbClr>
          </a:solidFill>
          <a:ln/>
        </p:spPr>
      </p:sp>
      <p:sp>
        <p:nvSpPr>
          <p:cNvPr id="3" name="Shape 1"/>
          <p:cNvSpPr/>
          <p:nvPr/>
        </p:nvSpPr>
        <p:spPr>
          <a:xfrm>
            <a:off x="10698480" y="5394960"/>
            <a:ext cx="2926080" cy="2926080"/>
          </a:xfrm>
          <a:prstGeom prst="roundRect">
            <a:avLst>
              <a:gd name="adj" fmla="val 50000"/>
            </a:avLst>
          </a:prstGeom>
          <a:solidFill>
            <a:srgbClr val="E23A4E">
              <a:alpha val="18000"/>
            </a:srgbClr>
          </a:solidFill>
          <a:ln/>
        </p:spPr>
      </p:sp>
      <p:sp>
        <p:nvSpPr>
          <p:cNvPr id="4" name="Text 2"/>
          <p:cNvSpPr/>
          <p:nvPr/>
        </p:nvSpPr>
        <p:spPr>
          <a:xfrm>
            <a:off x="822960" y="1234440"/>
            <a:ext cx="10058400" cy="365760"/>
          </a:xfrm>
          <a:prstGeom prst="rect">
            <a:avLst/>
          </a:prstGeom>
          <a:noFill/>
          <a:ln/>
        </p:spPr>
        <p:txBody>
          <a:bodyPr wrap="square" rtlCol="0" anchor="ctr"/>
          <a:lstStyle/>
          <a:p>
            <a:pPr indent="0" marL="0">
              <a:buNone/>
            </a:pPr>
            <a:r>
              <a:rPr lang="en-US" sz="1400" b="1" spc="400" kern="0" dirty="0">
                <a:solidFill>
                  <a:srgbClr val="39C0C8"/>
                </a:solidFill>
                <a:latin typeface="Calibri" pitchFamily="34" charset="0"/>
                <a:ea typeface="Calibri" pitchFamily="34" charset="-122"/>
                <a:cs typeface="Calibri" pitchFamily="34" charset="-120"/>
              </a:rPr>
              <a:t>SECURITY ASSESSMENT  ·  CONFIDENTIAL</a:t>
            </a:r>
            <a:endParaRPr lang="en-US" sz="1400" dirty="0"/>
          </a:p>
        </p:txBody>
      </p:sp>
      <p:sp>
        <p:nvSpPr>
          <p:cNvPr id="5" name="Text 3"/>
          <p:cNvSpPr/>
          <p:nvPr/>
        </p:nvSpPr>
        <p:spPr>
          <a:xfrm>
            <a:off x="777240" y="1737360"/>
            <a:ext cx="10607040" cy="1005840"/>
          </a:xfrm>
          <a:prstGeom prst="rect">
            <a:avLst/>
          </a:prstGeom>
          <a:noFill/>
          <a:ln/>
        </p:spPr>
        <p:txBody>
          <a:bodyPr wrap="square" rtlCol="0" anchor="ctr"/>
          <a:lstStyle/>
          <a:p>
            <a:pPr indent="0" marL="0">
              <a:buNone/>
            </a:pPr>
            <a:r>
              <a:rPr lang="en-US" sz="5400" b="1" dirty="0">
                <a:solidFill>
                  <a:srgbClr val="EAF0FB"/>
                </a:solidFill>
                <a:latin typeface="Cambria" pitchFamily="34" charset="0"/>
                <a:ea typeface="Cambria" pitchFamily="34" charset="-122"/>
                <a:cs typeface="Cambria" pitchFamily="34" charset="-120"/>
              </a:rPr>
              <a:t>NPUPS / WorkForce</a:t>
            </a:r>
            <a:endParaRPr lang="en-US" sz="5400" dirty="0"/>
          </a:p>
        </p:txBody>
      </p:sp>
      <p:sp>
        <p:nvSpPr>
          <p:cNvPr id="6" name="Text 4"/>
          <p:cNvSpPr/>
          <p:nvPr/>
        </p:nvSpPr>
        <p:spPr>
          <a:xfrm>
            <a:off x="822960" y="2788920"/>
            <a:ext cx="9875520" cy="548640"/>
          </a:xfrm>
          <a:prstGeom prst="rect">
            <a:avLst/>
          </a:prstGeom>
          <a:noFill/>
          <a:ln/>
        </p:spPr>
        <p:txBody>
          <a:bodyPr wrap="square" rtlCol="0" anchor="ctr"/>
          <a:lstStyle/>
          <a:p>
            <a:pPr indent="0" marL="0">
              <a:buNone/>
            </a:pPr>
            <a:r>
              <a:rPr lang="en-US" sz="1900" dirty="0">
                <a:solidFill>
                  <a:srgbClr val="9AA6BE"/>
                </a:solidFill>
                <a:latin typeface="Calibri" pitchFamily="34" charset="0"/>
                <a:ea typeface="Calibri" pitchFamily="34" charset="-122"/>
                <a:cs typeface="Calibri" pitchFamily="34" charset="-120"/>
              </a:rPr>
              <a:t>HR &amp; Payroll Platform — Security Posture, Confidence &amp; Hardening Roadmap</a:t>
            </a:r>
            <a:endParaRPr lang="en-US" sz="1900" dirty="0"/>
          </a:p>
        </p:txBody>
      </p:sp>
      <p:sp>
        <p:nvSpPr>
          <p:cNvPr id="7" name="Shape 5"/>
          <p:cNvSpPr/>
          <p:nvPr/>
        </p:nvSpPr>
        <p:spPr>
          <a:xfrm>
            <a:off x="822960" y="3703320"/>
            <a:ext cx="4114800" cy="1051560"/>
          </a:xfrm>
          <a:prstGeom prst="roundRect">
            <a:avLst>
              <a:gd name="adj" fmla="val 10435"/>
            </a:avLst>
          </a:prstGeom>
          <a:solidFill>
            <a:srgbClr val="E23A4E"/>
          </a:solidFill>
          <a:ln/>
          <a:effectLst>
            <a:outerShdw sx="100000" sy="100000" kx="0" ky="0" algn="bl" rotWithShape="0" blurRad="127000" dist="38100" dir="5400000">
              <a:srgbClr val="05070D">
                <a:alpha val="45000"/>
              </a:srgbClr>
            </a:outerShdw>
          </a:effectLst>
        </p:spPr>
      </p:sp>
      <p:sp>
        <p:nvSpPr>
          <p:cNvPr id="8" name="Text 6"/>
          <p:cNvSpPr/>
          <p:nvPr/>
        </p:nvSpPr>
        <p:spPr>
          <a:xfrm>
            <a:off x="1005840" y="3840480"/>
            <a:ext cx="3749040" cy="274320"/>
          </a:xfrm>
          <a:prstGeom prst="rect">
            <a:avLst/>
          </a:prstGeom>
          <a:noFill/>
          <a:ln/>
        </p:spPr>
        <p:txBody>
          <a:bodyPr wrap="square" rtlCol="0" anchor="ctr"/>
          <a:lstStyle/>
          <a:p>
            <a:pPr indent="0" marL="0">
              <a:buNone/>
            </a:pPr>
            <a:r>
              <a:rPr lang="en-US" sz="1200" b="1" spc="200" kern="0" dirty="0">
                <a:solidFill>
                  <a:srgbClr val="FFE7EA"/>
                </a:solidFill>
                <a:latin typeface="Calibri" pitchFamily="34" charset="0"/>
                <a:ea typeface="Calibri" pitchFamily="34" charset="-122"/>
                <a:cs typeface="Calibri" pitchFamily="34" charset="-120"/>
              </a:rPr>
              <a:t>OVERALL RISK</a:t>
            </a:r>
            <a:endParaRPr lang="en-US" sz="1200" dirty="0"/>
          </a:p>
        </p:txBody>
      </p:sp>
      <p:sp>
        <p:nvSpPr>
          <p:cNvPr id="9" name="Text 7"/>
          <p:cNvSpPr/>
          <p:nvPr/>
        </p:nvSpPr>
        <p:spPr>
          <a:xfrm>
            <a:off x="1005840" y="4069080"/>
            <a:ext cx="3749040" cy="59436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CRITICAL</a:t>
            </a:r>
            <a:endParaRPr lang="en-US" sz="4000" dirty="0"/>
          </a:p>
        </p:txBody>
      </p:sp>
      <p:sp>
        <p:nvSpPr>
          <p:cNvPr id="10" name="Text 8"/>
          <p:cNvSpPr/>
          <p:nvPr/>
        </p:nvSpPr>
        <p:spPr>
          <a:xfrm>
            <a:off x="5212080" y="3794760"/>
            <a:ext cx="6035040" cy="914400"/>
          </a:xfrm>
          <a:prstGeom prst="rect">
            <a:avLst/>
          </a:prstGeom>
          <a:noFill/>
          <a:ln/>
        </p:spPr>
        <p:txBody>
          <a:bodyPr wrap="square" rtlCol="0" anchor="ctr"/>
          <a:lstStyle/>
          <a:p>
            <a:pPr indent="0" marL="0">
              <a:lnSpc>
                <a:spcPct val="120000"/>
              </a:lnSpc>
              <a:buNone/>
            </a:pPr>
            <a:r>
              <a:rPr lang="en-US" sz="1500" b="1" dirty="0">
                <a:solidFill>
                  <a:srgbClr val="EAF0FB"/>
                </a:solidFill>
                <a:latin typeface="Calibri" pitchFamily="34" charset="0"/>
                <a:ea typeface="Calibri" pitchFamily="34" charset="-122"/>
                <a:cs typeface="Calibri" pitchFamily="34" charset="-120"/>
              </a:rPr>
              <a:t>Not production-ready for real PII / payroll</a:t>
            </a:r>
            <a:endParaRPr lang="en-US" sz="1500" dirty="0"/>
          </a:p>
          <a:p>
            <a:pPr indent="0" marL="0">
              <a:lnSpc>
                <a:spcPct val="120000"/>
              </a:lnSpc>
              <a:buNone/>
            </a:pPr>
            <a:r>
              <a:rPr lang="en-US" sz="1500" dirty="0">
                <a:solidFill>
                  <a:srgbClr val="9AA6BE"/>
                </a:solidFill>
                <a:latin typeface="Calibri" pitchFamily="34" charset="0"/>
                <a:ea typeface="Calibri" pitchFamily="34" charset="-122"/>
                <a:cs typeface="Calibri" pitchFamily="34" charset="-120"/>
              </a:rPr>
              <a:t>Assessor confidence: High (~95%) — white-box source review</a:t>
            </a:r>
            <a:endParaRPr lang="en-US" sz="1500" dirty="0"/>
          </a:p>
        </p:txBody>
      </p:sp>
      <p:sp>
        <p:nvSpPr>
          <p:cNvPr id="11" name="Text 9"/>
          <p:cNvSpPr/>
          <p:nvPr/>
        </p:nvSpPr>
        <p:spPr>
          <a:xfrm>
            <a:off x="822960" y="6126480"/>
            <a:ext cx="10607040" cy="365760"/>
          </a:xfrm>
          <a:prstGeom prst="rect">
            <a:avLst/>
          </a:prstGeom>
          <a:noFill/>
          <a:ln/>
        </p:spPr>
        <p:txBody>
          <a:bodyPr wrap="square" rtlCol="0" anchor="ctr"/>
          <a:lstStyle/>
          <a:p>
            <a:pPr indent="0" marL="0">
              <a:buNone/>
            </a:pPr>
            <a:r>
              <a:rPr lang="en-US" sz="1150" dirty="0">
                <a:solidFill>
                  <a:srgbClr val="6E7A93"/>
                </a:solidFill>
                <a:latin typeface="Calibri" pitchFamily="34" charset="0"/>
                <a:ea typeface="Calibri" pitchFamily="34" charset="-122"/>
                <a:cs typeface="Calibri" pitchFamily="34" charset="-120"/>
              </a:rPr>
              <a:t>Senior Cyber-Security Specialist   ·   17 August 2026   ·   Scope: Flutter web · Node API · PostgreSQL/Supabase · Infra &amp; CI/CD</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524"/>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300" kern="0" dirty="0">
                <a:solidFill>
                  <a:srgbClr val="39C0C8"/>
                </a:solidFill>
                <a:latin typeface="Calibri" pitchFamily="34" charset="0"/>
                <a:ea typeface="Calibri" pitchFamily="34" charset="-122"/>
                <a:cs typeface="Calibri" pitchFamily="34" charset="-120"/>
              </a:rPr>
              <a:t>NAVIGATION</a:t>
            </a:r>
            <a:endParaRPr lang="en-US" sz="1200" dirty="0"/>
          </a:p>
        </p:txBody>
      </p:sp>
      <p:sp>
        <p:nvSpPr>
          <p:cNvPr id="3" name="Text 1"/>
          <p:cNvSpPr/>
          <p:nvPr/>
        </p:nvSpPr>
        <p:spPr>
          <a:xfrm>
            <a:off x="530352" y="658368"/>
            <a:ext cx="11155680" cy="640080"/>
          </a:xfrm>
          <a:prstGeom prst="rect">
            <a:avLst/>
          </a:prstGeom>
          <a:noFill/>
          <a:ln/>
        </p:spPr>
        <p:txBody>
          <a:bodyPr wrap="square" rtlCol="0" anchor="ctr"/>
          <a:lstStyle/>
          <a:p>
            <a:pPr indent="0" marL="0">
              <a:buNone/>
            </a:pPr>
            <a:r>
              <a:rPr lang="en-US" sz="3000" b="1" dirty="0">
                <a:solidFill>
                  <a:srgbClr val="EAF0FB"/>
                </a:solidFill>
                <a:latin typeface="Cambria" pitchFamily="34" charset="0"/>
                <a:ea typeface="Cambria" pitchFamily="34" charset="-122"/>
                <a:cs typeface="Cambria" pitchFamily="34" charset="-120"/>
              </a:rPr>
              <a:t>What this assessment covers</a:t>
            </a:r>
            <a:endParaRPr lang="en-US" sz="3000" dirty="0"/>
          </a:p>
        </p:txBody>
      </p:sp>
      <p:sp>
        <p:nvSpPr>
          <p:cNvPr id="4" name="Text 2"/>
          <p:cNvSpPr/>
          <p:nvPr/>
        </p:nvSpPr>
        <p:spPr>
          <a:xfrm>
            <a:off x="548640" y="1417320"/>
            <a:ext cx="7315200" cy="274320"/>
          </a:xfrm>
          <a:prstGeom prst="rect">
            <a:avLst/>
          </a:prstGeom>
          <a:noFill/>
          <a:ln/>
        </p:spPr>
        <p:txBody>
          <a:bodyPr wrap="square" rtlCol="0" anchor="ctr"/>
          <a:lstStyle/>
          <a:p>
            <a:pPr indent="0" marL="0">
              <a:buNone/>
            </a:pPr>
            <a:r>
              <a:rPr lang="en-US" sz="1200" i="1" dirty="0">
                <a:solidFill>
                  <a:srgbClr val="9AA6BE"/>
                </a:solidFill>
                <a:latin typeface="Calibri" pitchFamily="34" charset="0"/>
                <a:ea typeface="Calibri" pitchFamily="34" charset="-122"/>
                <a:cs typeface="Calibri" pitchFamily="34" charset="-120"/>
              </a:rPr>
              <a:t>Click any item to jump to that section.</a:t>
            </a:r>
            <a:endParaRPr lang="en-US" sz="1200" dirty="0"/>
          </a:p>
        </p:txBody>
      </p:sp>
      <p:sp>
        <p:nvSpPr>
          <p:cNvPr id="5" name="Shape 3"/>
          <p:cNvSpPr/>
          <p:nvPr/>
        </p:nvSpPr>
        <p:spPr>
          <a:xfrm>
            <a:off x="548640" y="1828800"/>
            <a:ext cx="5486400" cy="914400"/>
          </a:xfrm>
          <a:prstGeom prst="roundRect">
            <a:avLst>
              <a:gd name="adj" fmla="val 10000"/>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6" name="Shape 4"/>
          <p:cNvSpPr/>
          <p:nvPr/>
        </p:nvSpPr>
        <p:spPr>
          <a:xfrm>
            <a:off x="694944" y="2011680"/>
            <a:ext cx="566928" cy="566928"/>
          </a:xfrm>
          <a:prstGeom prst="roundRect">
            <a:avLst>
              <a:gd name="adj" fmla="val 16129"/>
            </a:avLst>
          </a:prstGeom>
          <a:solidFill>
            <a:srgbClr val="E23A4E"/>
          </a:solidFill>
          <a:ln/>
        </p:spPr>
      </p:sp>
      <p:sp>
        <p:nvSpPr>
          <p:cNvPr id="7" name="Text 5"/>
          <p:cNvSpPr/>
          <p:nvPr/>
        </p:nvSpPr>
        <p:spPr>
          <a:xfrm>
            <a:off x="694944" y="201168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01</a:t>
            </a:r>
            <a:endParaRPr lang="en-US" sz="1800" dirty="0"/>
          </a:p>
        </p:txBody>
      </p:sp>
      <p:sp>
        <p:nvSpPr>
          <p:cNvPr id="8" name="Text 6">
            <a:hlinkClick r:id="rId1" tooltip="" action="ppaction://hlinksldjump"/>
          </p:cNvPr>
          <p:cNvSpPr/>
          <p:nvPr/>
        </p:nvSpPr>
        <p:spPr>
          <a:xfrm>
            <a:off x="1417320" y="1975104"/>
            <a:ext cx="4480560" cy="329184"/>
          </a:xfrm>
          <a:prstGeom prst="rect">
            <a:avLst/>
          </a:prstGeom>
          <a:noFill/>
          <a:ln/>
        </p:spPr>
        <p:txBody>
          <a:bodyPr wrap="square" lIns="0" tIns="0" rIns="0" bIns="0" rtlCol="0" anchor="ctr"/>
          <a:lstStyle/>
          <a:p>
            <a:pPr indent="0" marL="0">
              <a:buNone/>
            </a:pPr>
            <a:r>
              <a:rPr lang="en-US" sz="1450" b="1" u="sng" dirty="0">
                <a:solidFill>
                  <a:srgbClr val="EAF0FB"/>
                </a:solidFill>
                <a:latin typeface="Calibri" pitchFamily="34" charset="0"/>
                <a:ea typeface="Calibri" pitchFamily="34" charset="-122"/>
                <a:cs typeface="Calibri" pitchFamily="34" charset="-120"/>
                <a:hlinkClick r:id="rId1" action="ppaction://hlinksldjump" tooltip="">
                  <a:extLst>
                    <a:ext uri="{A12FA001-AC4F-418D-AE19-62706E023703}">
                      <ahyp:hlinkClr xmlns:ahyp="http://schemas.microsoft.com/office/drawing/2018/hyperlinkcolor" val="tx"/>
                    </a:ext>
                  </a:extLst>
                </a:hlinkClick>
              </a:rPr>
              <a:t>The bottom line — how secure is it?</a:t>
            </a:r>
            <a:endParaRPr lang="en-US" sz="1450" dirty="0"/>
          </a:p>
        </p:txBody>
      </p:sp>
      <p:sp>
        <p:nvSpPr>
          <p:cNvPr id="9" name="Text 7"/>
          <p:cNvSpPr/>
          <p:nvPr/>
        </p:nvSpPr>
        <p:spPr>
          <a:xfrm>
            <a:off x="1417320" y="2304288"/>
            <a:ext cx="4480560" cy="292608"/>
          </a:xfrm>
          <a:prstGeom prst="rect">
            <a:avLst/>
          </a:prstGeom>
          <a:noFill/>
          <a:ln/>
        </p:spPr>
        <p:txBody>
          <a:bodyPr wrap="square" lIns="0" tIns="0" rIns="0" bIns="0" rtlCol="0" anchor="ctr"/>
          <a:lstStyle/>
          <a:p>
            <a:pPr indent="0" marL="0">
              <a:buNone/>
            </a:pPr>
            <a:r>
              <a:rPr lang="en-US" sz="1150" dirty="0">
                <a:solidFill>
                  <a:srgbClr val="9AA6BE"/>
                </a:solidFill>
                <a:latin typeface="Calibri" pitchFamily="34" charset="0"/>
                <a:ea typeface="Calibri" pitchFamily="34" charset="-122"/>
                <a:cs typeface="Calibri" pitchFamily="34" charset="-120"/>
              </a:rPr>
              <a:t>Verdict, confidence &amp; security level</a:t>
            </a:r>
            <a:endParaRPr lang="en-US" sz="1150" dirty="0"/>
          </a:p>
        </p:txBody>
      </p:sp>
      <p:sp>
        <p:nvSpPr>
          <p:cNvPr id="10" name="Shape 8"/>
          <p:cNvSpPr/>
          <p:nvPr/>
        </p:nvSpPr>
        <p:spPr>
          <a:xfrm>
            <a:off x="548640" y="2962656"/>
            <a:ext cx="5486400" cy="914400"/>
          </a:xfrm>
          <a:prstGeom prst="roundRect">
            <a:avLst>
              <a:gd name="adj" fmla="val 10000"/>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11" name="Shape 9"/>
          <p:cNvSpPr/>
          <p:nvPr/>
        </p:nvSpPr>
        <p:spPr>
          <a:xfrm>
            <a:off x="694944" y="3145536"/>
            <a:ext cx="566928" cy="566928"/>
          </a:xfrm>
          <a:prstGeom prst="roundRect">
            <a:avLst>
              <a:gd name="adj" fmla="val 16129"/>
            </a:avLst>
          </a:prstGeom>
          <a:solidFill>
            <a:srgbClr val="E8912B"/>
          </a:solidFill>
          <a:ln/>
        </p:spPr>
      </p:sp>
      <p:sp>
        <p:nvSpPr>
          <p:cNvPr id="12" name="Text 10"/>
          <p:cNvSpPr/>
          <p:nvPr/>
        </p:nvSpPr>
        <p:spPr>
          <a:xfrm>
            <a:off x="694944" y="3145536"/>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02</a:t>
            </a:r>
            <a:endParaRPr lang="en-US" sz="1800" dirty="0"/>
          </a:p>
        </p:txBody>
      </p:sp>
      <p:sp>
        <p:nvSpPr>
          <p:cNvPr id="13" name="Text 11">
            <a:hlinkClick r:id="rId2" tooltip="" action="ppaction://hlinksldjump"/>
          </p:cNvPr>
          <p:cNvSpPr/>
          <p:nvPr/>
        </p:nvSpPr>
        <p:spPr>
          <a:xfrm>
            <a:off x="1417320" y="3108960"/>
            <a:ext cx="4480560" cy="329184"/>
          </a:xfrm>
          <a:prstGeom prst="rect">
            <a:avLst/>
          </a:prstGeom>
          <a:noFill/>
          <a:ln/>
        </p:spPr>
        <p:txBody>
          <a:bodyPr wrap="square" lIns="0" tIns="0" rIns="0" bIns="0" rtlCol="0" anchor="ctr"/>
          <a:lstStyle/>
          <a:p>
            <a:pPr indent="0" marL="0">
              <a:buNone/>
            </a:pPr>
            <a:r>
              <a:rPr lang="en-US" sz="1450" b="1" u="sng" dirty="0">
                <a:solidFill>
                  <a:srgbClr val="EAF0FB"/>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The core problem</a:t>
            </a:r>
            <a:endParaRPr lang="en-US" sz="1450" dirty="0"/>
          </a:p>
        </p:txBody>
      </p:sp>
      <p:sp>
        <p:nvSpPr>
          <p:cNvPr id="14" name="Text 12"/>
          <p:cNvSpPr/>
          <p:nvPr/>
        </p:nvSpPr>
        <p:spPr>
          <a:xfrm>
            <a:off x="1417320" y="3438144"/>
            <a:ext cx="4480560" cy="292608"/>
          </a:xfrm>
          <a:prstGeom prst="rect">
            <a:avLst/>
          </a:prstGeom>
          <a:noFill/>
          <a:ln/>
        </p:spPr>
        <p:txBody>
          <a:bodyPr wrap="square" lIns="0" tIns="0" rIns="0" bIns="0" rtlCol="0" anchor="ctr"/>
          <a:lstStyle/>
          <a:p>
            <a:pPr indent="0" marL="0">
              <a:buNone/>
            </a:pPr>
            <a:r>
              <a:rPr lang="en-US" sz="1150" dirty="0">
                <a:solidFill>
                  <a:srgbClr val="9AA6BE"/>
                </a:solidFill>
                <a:latin typeface="Calibri" pitchFamily="34" charset="0"/>
                <a:ea typeface="Calibri" pitchFamily="34" charset="-122"/>
                <a:cs typeface="Calibri" pitchFamily="34" charset="-120"/>
              </a:rPr>
              <a:t>Two auth models — the insecure one runs</a:t>
            </a:r>
            <a:endParaRPr lang="en-US" sz="1150" dirty="0"/>
          </a:p>
        </p:txBody>
      </p:sp>
      <p:sp>
        <p:nvSpPr>
          <p:cNvPr id="15" name="Shape 13"/>
          <p:cNvSpPr/>
          <p:nvPr/>
        </p:nvSpPr>
        <p:spPr>
          <a:xfrm>
            <a:off x="548640" y="4096512"/>
            <a:ext cx="5486400" cy="914400"/>
          </a:xfrm>
          <a:prstGeom prst="roundRect">
            <a:avLst>
              <a:gd name="adj" fmla="val 10000"/>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16" name="Shape 14"/>
          <p:cNvSpPr/>
          <p:nvPr/>
        </p:nvSpPr>
        <p:spPr>
          <a:xfrm>
            <a:off x="694944" y="4279392"/>
            <a:ext cx="566928" cy="566928"/>
          </a:xfrm>
          <a:prstGeom prst="roundRect">
            <a:avLst>
              <a:gd name="adj" fmla="val 16129"/>
            </a:avLst>
          </a:prstGeom>
          <a:solidFill>
            <a:srgbClr val="E4C23B"/>
          </a:solidFill>
          <a:ln/>
        </p:spPr>
      </p:sp>
      <p:sp>
        <p:nvSpPr>
          <p:cNvPr id="17" name="Text 15"/>
          <p:cNvSpPr/>
          <p:nvPr/>
        </p:nvSpPr>
        <p:spPr>
          <a:xfrm>
            <a:off x="694944" y="4279392"/>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03</a:t>
            </a:r>
            <a:endParaRPr lang="en-US" sz="1800" dirty="0"/>
          </a:p>
        </p:txBody>
      </p:sp>
      <p:sp>
        <p:nvSpPr>
          <p:cNvPr id="18" name="Text 16">
            <a:hlinkClick r:id="rId3" tooltip="" action="ppaction://hlinksldjump"/>
          </p:cNvPr>
          <p:cNvSpPr/>
          <p:nvPr/>
        </p:nvSpPr>
        <p:spPr>
          <a:xfrm>
            <a:off x="1417320" y="4242816"/>
            <a:ext cx="4480560" cy="329184"/>
          </a:xfrm>
          <a:prstGeom prst="rect">
            <a:avLst/>
          </a:prstGeom>
          <a:noFill/>
          <a:ln/>
        </p:spPr>
        <p:txBody>
          <a:bodyPr wrap="square" lIns="0" tIns="0" rIns="0" bIns="0" rtlCol="0" anchor="ctr"/>
          <a:lstStyle/>
          <a:p>
            <a:pPr indent="0" marL="0">
              <a:buNone/>
            </a:pPr>
            <a:r>
              <a:rPr lang="en-US" sz="1450" b="1" u="sng" dirty="0">
                <a:solidFill>
                  <a:srgbClr val="EAF0FB"/>
                </a:solidFill>
                <a:latin typeface="Calibri" pitchFamily="34" charset="0"/>
                <a:ea typeface="Calibri" pitchFamily="34" charset="-122"/>
                <a:cs typeface="Calibri" pitchFamily="34" charset="-120"/>
                <a:hlinkClick r:id="rId3" action="ppaction://hlinksldjump" tooltip="">
                  <a:extLst>
                    <a:ext uri="{A12FA001-AC4F-418D-AE19-62706E023703}">
                      <ahyp:hlinkClr xmlns:ahyp="http://schemas.microsoft.com/office/drawing/2018/hyperlinkcolor" val="tx"/>
                    </a:ext>
                  </a:extLst>
                </a:hlinkClick>
              </a:rPr>
              <a:t>Findings at a glance</a:t>
            </a:r>
            <a:endParaRPr lang="en-US" sz="1450" dirty="0"/>
          </a:p>
        </p:txBody>
      </p:sp>
      <p:sp>
        <p:nvSpPr>
          <p:cNvPr id="19" name="Text 17"/>
          <p:cNvSpPr/>
          <p:nvPr/>
        </p:nvSpPr>
        <p:spPr>
          <a:xfrm>
            <a:off x="1417320" y="4572000"/>
            <a:ext cx="4480560" cy="292608"/>
          </a:xfrm>
          <a:prstGeom prst="rect">
            <a:avLst/>
          </a:prstGeom>
          <a:noFill/>
          <a:ln/>
        </p:spPr>
        <p:txBody>
          <a:bodyPr wrap="square" lIns="0" tIns="0" rIns="0" bIns="0" rtlCol="0" anchor="ctr"/>
          <a:lstStyle/>
          <a:p>
            <a:pPr indent="0" marL="0">
              <a:buNone/>
            </a:pPr>
            <a:r>
              <a:rPr lang="en-US" sz="1150" dirty="0">
                <a:solidFill>
                  <a:srgbClr val="9AA6BE"/>
                </a:solidFill>
                <a:latin typeface="Calibri" pitchFamily="34" charset="0"/>
                <a:ea typeface="Calibri" pitchFamily="34" charset="-122"/>
                <a:cs typeface="Calibri" pitchFamily="34" charset="-120"/>
              </a:rPr>
              <a:t>4 Critical · 6 High · 5 Medium · 4 Low</a:t>
            </a:r>
            <a:endParaRPr lang="en-US" sz="1150" dirty="0"/>
          </a:p>
        </p:txBody>
      </p:sp>
      <p:sp>
        <p:nvSpPr>
          <p:cNvPr id="20" name="Shape 18"/>
          <p:cNvSpPr/>
          <p:nvPr/>
        </p:nvSpPr>
        <p:spPr>
          <a:xfrm>
            <a:off x="548640" y="5230368"/>
            <a:ext cx="5486400" cy="914400"/>
          </a:xfrm>
          <a:prstGeom prst="roundRect">
            <a:avLst>
              <a:gd name="adj" fmla="val 10000"/>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21" name="Shape 19"/>
          <p:cNvSpPr/>
          <p:nvPr/>
        </p:nvSpPr>
        <p:spPr>
          <a:xfrm>
            <a:off x="694944" y="5413248"/>
            <a:ext cx="566928" cy="566928"/>
          </a:xfrm>
          <a:prstGeom prst="roundRect">
            <a:avLst>
              <a:gd name="adj" fmla="val 16129"/>
            </a:avLst>
          </a:prstGeom>
          <a:solidFill>
            <a:srgbClr val="39C0C8"/>
          </a:solidFill>
          <a:ln/>
        </p:spPr>
      </p:sp>
      <p:sp>
        <p:nvSpPr>
          <p:cNvPr id="22" name="Text 20"/>
          <p:cNvSpPr/>
          <p:nvPr/>
        </p:nvSpPr>
        <p:spPr>
          <a:xfrm>
            <a:off x="694944" y="541324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04</a:t>
            </a:r>
            <a:endParaRPr lang="en-US" sz="1800" dirty="0"/>
          </a:p>
        </p:txBody>
      </p:sp>
      <p:sp>
        <p:nvSpPr>
          <p:cNvPr id="23" name="Text 21">
            <a:hlinkClick r:id="rId4" tooltip="" action="ppaction://hlinksldjump"/>
          </p:cNvPr>
          <p:cNvSpPr/>
          <p:nvPr/>
        </p:nvSpPr>
        <p:spPr>
          <a:xfrm>
            <a:off x="1417320" y="5376672"/>
            <a:ext cx="4480560" cy="329184"/>
          </a:xfrm>
          <a:prstGeom prst="rect">
            <a:avLst/>
          </a:prstGeom>
          <a:noFill/>
          <a:ln/>
        </p:spPr>
        <p:txBody>
          <a:bodyPr wrap="square" lIns="0" tIns="0" rIns="0" bIns="0" rtlCol="0" anchor="ctr"/>
          <a:lstStyle/>
          <a:p>
            <a:pPr indent="0" marL="0">
              <a:buNone/>
            </a:pPr>
            <a:r>
              <a:rPr lang="en-US" sz="1450" b="1" u="sng" dirty="0">
                <a:solidFill>
                  <a:srgbClr val="EAF0FB"/>
                </a:solidFill>
                <a:latin typeface="Calibri" pitchFamily="34" charset="0"/>
                <a:ea typeface="Calibri" pitchFamily="34" charset="-122"/>
                <a:cs typeface="Calibri" pitchFamily="34" charset="-120"/>
                <a:hlinkClick r:id="rId4" action="ppaction://hlinksldjump" tooltip="">
                  <a:extLst>
                    <a:ext uri="{A12FA001-AC4F-418D-AE19-62706E023703}">
                      <ahyp:hlinkClr xmlns:ahyp="http://schemas.microsoft.com/office/drawing/2018/hyperlinkcolor" val="tx"/>
                    </a:ext>
                  </a:extLst>
                </a:hlinkClick>
              </a:rPr>
              <a:t>What is at risk</a:t>
            </a:r>
            <a:endParaRPr lang="en-US" sz="1450" dirty="0"/>
          </a:p>
        </p:txBody>
      </p:sp>
      <p:sp>
        <p:nvSpPr>
          <p:cNvPr id="24" name="Text 22"/>
          <p:cNvSpPr/>
          <p:nvPr/>
        </p:nvSpPr>
        <p:spPr>
          <a:xfrm>
            <a:off x="1417320" y="5705856"/>
            <a:ext cx="4480560" cy="292608"/>
          </a:xfrm>
          <a:prstGeom prst="rect">
            <a:avLst/>
          </a:prstGeom>
          <a:noFill/>
          <a:ln/>
        </p:spPr>
        <p:txBody>
          <a:bodyPr wrap="square" lIns="0" tIns="0" rIns="0" bIns="0" rtlCol="0" anchor="ctr"/>
          <a:lstStyle/>
          <a:p>
            <a:pPr indent="0" marL="0">
              <a:buNone/>
            </a:pPr>
            <a:r>
              <a:rPr lang="en-US" sz="1150" dirty="0">
                <a:solidFill>
                  <a:srgbClr val="9AA6BE"/>
                </a:solidFill>
                <a:latin typeface="Calibri" pitchFamily="34" charset="0"/>
                <a:ea typeface="Calibri" pitchFamily="34" charset="-122"/>
                <a:cs typeface="Calibri" pitchFamily="34" charset="-120"/>
              </a:rPr>
              <a:t>The PII &amp; financial data exposed</a:t>
            </a:r>
            <a:endParaRPr lang="en-US" sz="1150" dirty="0"/>
          </a:p>
        </p:txBody>
      </p:sp>
      <p:sp>
        <p:nvSpPr>
          <p:cNvPr id="25" name="Shape 23"/>
          <p:cNvSpPr/>
          <p:nvPr/>
        </p:nvSpPr>
        <p:spPr>
          <a:xfrm>
            <a:off x="6355080" y="1828800"/>
            <a:ext cx="5486400" cy="914400"/>
          </a:xfrm>
          <a:prstGeom prst="roundRect">
            <a:avLst>
              <a:gd name="adj" fmla="val 10000"/>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26" name="Shape 24"/>
          <p:cNvSpPr/>
          <p:nvPr/>
        </p:nvSpPr>
        <p:spPr>
          <a:xfrm>
            <a:off x="6501384" y="2011680"/>
            <a:ext cx="566928" cy="566928"/>
          </a:xfrm>
          <a:prstGeom prst="roundRect">
            <a:avLst>
              <a:gd name="adj" fmla="val 16129"/>
            </a:avLst>
          </a:prstGeom>
          <a:solidFill>
            <a:srgbClr val="3FB27F"/>
          </a:solidFill>
          <a:ln/>
        </p:spPr>
      </p:sp>
      <p:sp>
        <p:nvSpPr>
          <p:cNvPr id="27" name="Text 25"/>
          <p:cNvSpPr/>
          <p:nvPr/>
        </p:nvSpPr>
        <p:spPr>
          <a:xfrm>
            <a:off x="6501384" y="201168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05</a:t>
            </a:r>
            <a:endParaRPr lang="en-US" sz="1800" dirty="0"/>
          </a:p>
        </p:txBody>
      </p:sp>
      <p:sp>
        <p:nvSpPr>
          <p:cNvPr id="28" name="Text 26">
            <a:hlinkClick r:id="rId5" tooltip="" action="ppaction://hlinksldjump"/>
          </p:cNvPr>
          <p:cNvSpPr/>
          <p:nvPr/>
        </p:nvSpPr>
        <p:spPr>
          <a:xfrm>
            <a:off x="7223760" y="1975104"/>
            <a:ext cx="4480560" cy="329184"/>
          </a:xfrm>
          <a:prstGeom prst="rect">
            <a:avLst/>
          </a:prstGeom>
          <a:noFill/>
          <a:ln/>
        </p:spPr>
        <p:txBody>
          <a:bodyPr wrap="square" lIns="0" tIns="0" rIns="0" bIns="0" rtlCol="0" anchor="ctr"/>
          <a:lstStyle/>
          <a:p>
            <a:pPr indent="0" marL="0">
              <a:buNone/>
            </a:pPr>
            <a:r>
              <a:rPr lang="en-US" sz="1450" b="1" u="sng" dirty="0">
                <a:solidFill>
                  <a:srgbClr val="EAF0FB"/>
                </a:solidFill>
                <a:latin typeface="Calibri" pitchFamily="34" charset="0"/>
                <a:ea typeface="Calibri" pitchFamily="34" charset="-122"/>
                <a:cs typeface="Calibri" pitchFamily="34" charset="-120"/>
                <a:hlinkClick r:id="rId5" action="ppaction://hlinksldjump" tooltip="">
                  <a:extLst>
                    <a:ext uri="{A12FA001-AC4F-418D-AE19-62706E023703}">
                      <ahyp:hlinkClr xmlns:ahyp="http://schemas.microsoft.com/office/drawing/2018/hyperlinkcolor" val="tx"/>
                    </a:ext>
                  </a:extLst>
                </a:hlinkClick>
              </a:rPr>
              <a:t>Security maturity level</a:t>
            </a:r>
            <a:endParaRPr lang="en-US" sz="1450" dirty="0"/>
          </a:p>
        </p:txBody>
      </p:sp>
      <p:sp>
        <p:nvSpPr>
          <p:cNvPr id="29" name="Text 27"/>
          <p:cNvSpPr/>
          <p:nvPr/>
        </p:nvSpPr>
        <p:spPr>
          <a:xfrm>
            <a:off x="7223760" y="2304288"/>
            <a:ext cx="4480560" cy="292608"/>
          </a:xfrm>
          <a:prstGeom prst="rect">
            <a:avLst/>
          </a:prstGeom>
          <a:noFill/>
          <a:ln/>
        </p:spPr>
        <p:txBody>
          <a:bodyPr wrap="square" lIns="0" tIns="0" rIns="0" bIns="0" rtlCol="0" anchor="ctr"/>
          <a:lstStyle/>
          <a:p>
            <a:pPr indent="0" marL="0">
              <a:buNone/>
            </a:pPr>
            <a:r>
              <a:rPr lang="en-US" sz="1150" dirty="0">
                <a:solidFill>
                  <a:srgbClr val="9AA6BE"/>
                </a:solidFill>
                <a:latin typeface="Calibri" pitchFamily="34" charset="0"/>
                <a:ea typeface="Calibri" pitchFamily="34" charset="-122"/>
                <a:cs typeface="Calibri" pitchFamily="34" charset="-120"/>
              </a:rPr>
              <a:t>Where we are vs. where we must be</a:t>
            </a:r>
            <a:endParaRPr lang="en-US" sz="1150" dirty="0"/>
          </a:p>
        </p:txBody>
      </p:sp>
      <p:sp>
        <p:nvSpPr>
          <p:cNvPr id="30" name="Shape 28"/>
          <p:cNvSpPr/>
          <p:nvPr/>
        </p:nvSpPr>
        <p:spPr>
          <a:xfrm>
            <a:off x="6355080" y="2962656"/>
            <a:ext cx="5486400" cy="914400"/>
          </a:xfrm>
          <a:prstGeom prst="roundRect">
            <a:avLst>
              <a:gd name="adj" fmla="val 10000"/>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31" name="Shape 29"/>
          <p:cNvSpPr/>
          <p:nvPr/>
        </p:nvSpPr>
        <p:spPr>
          <a:xfrm>
            <a:off x="6501384" y="3145536"/>
            <a:ext cx="566928" cy="566928"/>
          </a:xfrm>
          <a:prstGeom prst="roundRect">
            <a:avLst>
              <a:gd name="adj" fmla="val 16129"/>
            </a:avLst>
          </a:prstGeom>
          <a:solidFill>
            <a:srgbClr val="39C0C8"/>
          </a:solidFill>
          <a:ln/>
        </p:spPr>
      </p:sp>
      <p:sp>
        <p:nvSpPr>
          <p:cNvPr id="32" name="Text 30"/>
          <p:cNvSpPr/>
          <p:nvPr/>
        </p:nvSpPr>
        <p:spPr>
          <a:xfrm>
            <a:off x="6501384" y="3145536"/>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06</a:t>
            </a:r>
            <a:endParaRPr lang="en-US" sz="1800" dirty="0"/>
          </a:p>
        </p:txBody>
      </p:sp>
      <p:sp>
        <p:nvSpPr>
          <p:cNvPr id="33" name="Text 31">
            <a:hlinkClick r:id="rId6" tooltip="" action="ppaction://hlinksldjump"/>
          </p:cNvPr>
          <p:cNvSpPr/>
          <p:nvPr/>
        </p:nvSpPr>
        <p:spPr>
          <a:xfrm>
            <a:off x="7223760" y="3108960"/>
            <a:ext cx="4480560" cy="329184"/>
          </a:xfrm>
          <a:prstGeom prst="rect">
            <a:avLst/>
          </a:prstGeom>
          <a:noFill/>
          <a:ln/>
        </p:spPr>
        <p:txBody>
          <a:bodyPr wrap="square" lIns="0" tIns="0" rIns="0" bIns="0" rtlCol="0" anchor="ctr"/>
          <a:lstStyle/>
          <a:p>
            <a:pPr indent="0" marL="0">
              <a:buNone/>
            </a:pPr>
            <a:r>
              <a:rPr lang="en-US" sz="1450" b="1" u="sng" dirty="0">
                <a:solidFill>
                  <a:srgbClr val="EAF0FB"/>
                </a:solidFill>
                <a:latin typeface="Calibri" pitchFamily="34" charset="0"/>
                <a:ea typeface="Calibri" pitchFamily="34" charset="-122"/>
                <a:cs typeface="Calibri" pitchFamily="34" charset="-120"/>
                <a:hlinkClick r:id="rId6" action="ppaction://hlinksldjump" tooltip="">
                  <a:extLst>
                    <a:ext uri="{A12FA001-AC4F-418D-AE19-62706E023703}">
                      <ahyp:hlinkClr xmlns:ahyp="http://schemas.microsoft.com/office/drawing/2018/hyperlinkcolor" val="tx"/>
                    </a:ext>
                  </a:extLst>
                </a:hlinkClick>
              </a:rPr>
              <a:t>Required security features</a:t>
            </a:r>
            <a:endParaRPr lang="en-US" sz="1450" dirty="0"/>
          </a:p>
        </p:txBody>
      </p:sp>
      <p:sp>
        <p:nvSpPr>
          <p:cNvPr id="34" name="Text 32"/>
          <p:cNvSpPr/>
          <p:nvPr/>
        </p:nvSpPr>
        <p:spPr>
          <a:xfrm>
            <a:off x="7223760" y="3438144"/>
            <a:ext cx="4480560" cy="292608"/>
          </a:xfrm>
          <a:prstGeom prst="rect">
            <a:avLst/>
          </a:prstGeom>
          <a:noFill/>
          <a:ln/>
        </p:spPr>
        <p:txBody>
          <a:bodyPr wrap="square" lIns="0" tIns="0" rIns="0" bIns="0" rtlCol="0" anchor="ctr"/>
          <a:lstStyle/>
          <a:p>
            <a:pPr indent="0" marL="0">
              <a:buNone/>
            </a:pPr>
            <a:r>
              <a:rPr lang="en-US" sz="1150" dirty="0">
                <a:solidFill>
                  <a:srgbClr val="9AA6BE"/>
                </a:solidFill>
                <a:latin typeface="Calibri" pitchFamily="34" charset="0"/>
                <a:ea typeface="Calibri" pitchFamily="34" charset="-122"/>
                <a:cs typeface="Calibri" pitchFamily="34" charset="-120"/>
              </a:rPr>
              <a:t>The P0–P2 remediation roadmap</a:t>
            </a:r>
            <a:endParaRPr lang="en-US" sz="1150" dirty="0"/>
          </a:p>
        </p:txBody>
      </p:sp>
      <p:sp>
        <p:nvSpPr>
          <p:cNvPr id="35" name="Shape 33"/>
          <p:cNvSpPr/>
          <p:nvPr/>
        </p:nvSpPr>
        <p:spPr>
          <a:xfrm>
            <a:off x="6355080" y="4096512"/>
            <a:ext cx="5486400" cy="914400"/>
          </a:xfrm>
          <a:prstGeom prst="roundRect">
            <a:avLst>
              <a:gd name="adj" fmla="val 10000"/>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36" name="Shape 34"/>
          <p:cNvSpPr/>
          <p:nvPr/>
        </p:nvSpPr>
        <p:spPr>
          <a:xfrm>
            <a:off x="6501384" y="4279392"/>
            <a:ext cx="566928" cy="566928"/>
          </a:xfrm>
          <a:prstGeom prst="roundRect">
            <a:avLst>
              <a:gd name="adj" fmla="val 16129"/>
            </a:avLst>
          </a:prstGeom>
          <a:solidFill>
            <a:srgbClr val="E8912B"/>
          </a:solidFill>
          <a:ln/>
        </p:spPr>
      </p:sp>
      <p:sp>
        <p:nvSpPr>
          <p:cNvPr id="37" name="Text 35"/>
          <p:cNvSpPr/>
          <p:nvPr/>
        </p:nvSpPr>
        <p:spPr>
          <a:xfrm>
            <a:off x="6501384" y="4279392"/>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07</a:t>
            </a:r>
            <a:endParaRPr lang="en-US" sz="1800" dirty="0"/>
          </a:p>
        </p:txBody>
      </p:sp>
      <p:sp>
        <p:nvSpPr>
          <p:cNvPr id="38" name="Text 36">
            <a:hlinkClick r:id="rId7" tooltip="" action="ppaction://hlinksldjump"/>
          </p:cNvPr>
          <p:cNvSpPr/>
          <p:nvPr/>
        </p:nvSpPr>
        <p:spPr>
          <a:xfrm>
            <a:off x="7223760" y="4242816"/>
            <a:ext cx="4480560" cy="329184"/>
          </a:xfrm>
          <a:prstGeom prst="rect">
            <a:avLst/>
          </a:prstGeom>
          <a:noFill/>
          <a:ln/>
        </p:spPr>
        <p:txBody>
          <a:bodyPr wrap="square" lIns="0" tIns="0" rIns="0" bIns="0" rtlCol="0" anchor="ctr"/>
          <a:lstStyle/>
          <a:p>
            <a:pPr indent="0" marL="0">
              <a:buNone/>
            </a:pPr>
            <a:r>
              <a:rPr lang="en-US" sz="1450" b="1" u="sng" dirty="0">
                <a:solidFill>
                  <a:srgbClr val="EAF0FB"/>
                </a:solidFill>
                <a:latin typeface="Calibri" pitchFamily="34" charset="0"/>
                <a:ea typeface="Calibri" pitchFamily="34" charset="-122"/>
                <a:cs typeface="Calibri" pitchFamily="34" charset="-120"/>
                <a:hlinkClick r:id="rId7" action="ppaction://hlinksldjump" tooltip="">
                  <a:extLst>
                    <a:ext uri="{A12FA001-AC4F-418D-AE19-62706E023703}">
                      <ahyp:hlinkClr xmlns:ahyp="http://schemas.microsoft.com/office/drawing/2018/hyperlinkcolor" val="tx"/>
                    </a:ext>
                  </a:extLst>
                </a:hlinkClick>
              </a:rPr>
              <a:t>For the network team</a:t>
            </a:r>
            <a:endParaRPr lang="en-US" sz="1450" dirty="0"/>
          </a:p>
        </p:txBody>
      </p:sp>
      <p:sp>
        <p:nvSpPr>
          <p:cNvPr id="39" name="Text 37"/>
          <p:cNvSpPr/>
          <p:nvPr/>
        </p:nvSpPr>
        <p:spPr>
          <a:xfrm>
            <a:off x="7223760" y="4572000"/>
            <a:ext cx="4480560" cy="292608"/>
          </a:xfrm>
          <a:prstGeom prst="rect">
            <a:avLst/>
          </a:prstGeom>
          <a:noFill/>
          <a:ln/>
        </p:spPr>
        <p:txBody>
          <a:bodyPr wrap="square" lIns="0" tIns="0" rIns="0" bIns="0" rtlCol="0" anchor="ctr"/>
          <a:lstStyle/>
          <a:p>
            <a:pPr indent="0" marL="0">
              <a:buNone/>
            </a:pPr>
            <a:r>
              <a:rPr lang="en-US" sz="1150" dirty="0">
                <a:solidFill>
                  <a:srgbClr val="9AA6BE"/>
                </a:solidFill>
                <a:latin typeface="Calibri" pitchFamily="34" charset="0"/>
                <a:ea typeface="Calibri" pitchFamily="34" charset="-122"/>
                <a:cs typeface="Calibri" pitchFamily="34" charset="-120"/>
              </a:rPr>
              <a:t>Controls to implement &amp; lock down</a:t>
            </a:r>
            <a:endParaRPr lang="en-US" sz="1150" dirty="0"/>
          </a:p>
        </p:txBody>
      </p:sp>
      <p:sp>
        <p:nvSpPr>
          <p:cNvPr id="40" name="Shape 38"/>
          <p:cNvSpPr/>
          <p:nvPr/>
        </p:nvSpPr>
        <p:spPr>
          <a:xfrm>
            <a:off x="6355080" y="5230368"/>
            <a:ext cx="5486400" cy="914400"/>
          </a:xfrm>
          <a:prstGeom prst="roundRect">
            <a:avLst>
              <a:gd name="adj" fmla="val 10000"/>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41" name="Shape 39"/>
          <p:cNvSpPr/>
          <p:nvPr/>
        </p:nvSpPr>
        <p:spPr>
          <a:xfrm>
            <a:off x="6501384" y="5413248"/>
            <a:ext cx="566928" cy="566928"/>
          </a:xfrm>
          <a:prstGeom prst="roundRect">
            <a:avLst>
              <a:gd name="adj" fmla="val 16129"/>
            </a:avLst>
          </a:prstGeom>
          <a:solidFill>
            <a:srgbClr val="3FB27F"/>
          </a:solidFill>
          <a:ln/>
        </p:spPr>
      </p:sp>
      <p:sp>
        <p:nvSpPr>
          <p:cNvPr id="42" name="Text 40"/>
          <p:cNvSpPr/>
          <p:nvPr/>
        </p:nvSpPr>
        <p:spPr>
          <a:xfrm>
            <a:off x="6501384" y="541324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08</a:t>
            </a:r>
            <a:endParaRPr lang="en-US" sz="1800" dirty="0"/>
          </a:p>
        </p:txBody>
      </p:sp>
      <p:sp>
        <p:nvSpPr>
          <p:cNvPr id="43" name="Text 41">
            <a:hlinkClick r:id="rId8" tooltip="" action="ppaction://hlinksldjump"/>
          </p:cNvPr>
          <p:cNvSpPr/>
          <p:nvPr/>
        </p:nvSpPr>
        <p:spPr>
          <a:xfrm>
            <a:off x="7223760" y="5376672"/>
            <a:ext cx="4480560" cy="329184"/>
          </a:xfrm>
          <a:prstGeom prst="rect">
            <a:avLst/>
          </a:prstGeom>
          <a:noFill/>
          <a:ln/>
        </p:spPr>
        <p:txBody>
          <a:bodyPr wrap="square" lIns="0" tIns="0" rIns="0" bIns="0" rtlCol="0" anchor="ctr"/>
          <a:lstStyle/>
          <a:p>
            <a:pPr indent="0" marL="0">
              <a:buNone/>
            </a:pPr>
            <a:r>
              <a:rPr lang="en-US" sz="1450" b="1" u="sng" dirty="0">
                <a:solidFill>
                  <a:srgbClr val="EAF0FB"/>
                </a:solidFill>
                <a:latin typeface="Calibri" pitchFamily="34" charset="0"/>
                <a:ea typeface="Calibri" pitchFamily="34" charset="-122"/>
                <a:cs typeface="Calibri" pitchFamily="34" charset="-120"/>
                <a:hlinkClick r:id="rId8" action="ppaction://hlinksldjump" tooltip="">
                  <a:extLst>
                    <a:ext uri="{A12FA001-AC4F-418D-AE19-62706E023703}">
                      <ahyp:hlinkClr xmlns:ahyp="http://schemas.microsoft.com/office/drawing/2018/hyperlinkcolor" val="tx"/>
                    </a:ext>
                  </a:extLst>
                </a:hlinkClick>
              </a:rPr>
              <a:t>Path to secure</a:t>
            </a:r>
            <a:endParaRPr lang="en-US" sz="1450" dirty="0"/>
          </a:p>
        </p:txBody>
      </p:sp>
      <p:sp>
        <p:nvSpPr>
          <p:cNvPr id="44" name="Text 42"/>
          <p:cNvSpPr/>
          <p:nvPr/>
        </p:nvSpPr>
        <p:spPr>
          <a:xfrm>
            <a:off x="7223760" y="5705856"/>
            <a:ext cx="4480560" cy="292608"/>
          </a:xfrm>
          <a:prstGeom prst="rect">
            <a:avLst/>
          </a:prstGeom>
          <a:noFill/>
          <a:ln/>
        </p:spPr>
        <p:txBody>
          <a:bodyPr wrap="square" lIns="0" tIns="0" rIns="0" bIns="0" rtlCol="0" anchor="ctr"/>
          <a:lstStyle/>
          <a:p>
            <a:pPr indent="0" marL="0">
              <a:buNone/>
            </a:pPr>
            <a:r>
              <a:rPr lang="en-US" sz="1150" dirty="0">
                <a:solidFill>
                  <a:srgbClr val="9AA6BE"/>
                </a:solidFill>
                <a:latin typeface="Calibri" pitchFamily="34" charset="0"/>
                <a:ea typeface="Calibri" pitchFamily="34" charset="-122"/>
                <a:cs typeface="Calibri" pitchFamily="34" charset="-120"/>
              </a:rPr>
              <a:t>From Level 1 to production-hardened</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524"/>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300" kern="0" dirty="0">
                <a:solidFill>
                  <a:srgbClr val="39C0C8"/>
                </a:solidFill>
                <a:latin typeface="Calibri" pitchFamily="34" charset="0"/>
                <a:ea typeface="Calibri" pitchFamily="34" charset="-122"/>
                <a:cs typeface="Calibri" pitchFamily="34" charset="-120"/>
              </a:rPr>
              <a:t>SECTION 01 · BOTTOM LINE</a:t>
            </a:r>
            <a:endParaRPr lang="en-US" sz="1200" dirty="0"/>
          </a:p>
        </p:txBody>
      </p:sp>
      <p:sp>
        <p:nvSpPr>
          <p:cNvPr id="3" name="Text 1"/>
          <p:cNvSpPr/>
          <p:nvPr/>
        </p:nvSpPr>
        <p:spPr>
          <a:xfrm>
            <a:off x="530352" y="658368"/>
            <a:ext cx="11155680" cy="640080"/>
          </a:xfrm>
          <a:prstGeom prst="rect">
            <a:avLst/>
          </a:prstGeom>
          <a:noFill/>
          <a:ln/>
        </p:spPr>
        <p:txBody>
          <a:bodyPr wrap="square" rtlCol="0" anchor="ctr"/>
          <a:lstStyle/>
          <a:p>
            <a:pPr indent="0" marL="0">
              <a:buNone/>
            </a:pPr>
            <a:r>
              <a:rPr lang="en-US" sz="3000" b="1" dirty="0">
                <a:solidFill>
                  <a:srgbClr val="EAF0FB"/>
                </a:solidFill>
                <a:latin typeface="Cambria" pitchFamily="34" charset="0"/>
                <a:ea typeface="Cambria" pitchFamily="34" charset="-122"/>
                <a:cs typeface="Cambria" pitchFamily="34" charset="-120"/>
              </a:rPr>
              <a:t>How secure is it — and how sure are we?</a:t>
            </a:r>
            <a:endParaRPr lang="en-US" sz="3000" dirty="0"/>
          </a:p>
        </p:txBody>
      </p:sp>
      <p:sp>
        <p:nvSpPr>
          <p:cNvPr id="4" name="Shape 2"/>
          <p:cNvSpPr/>
          <p:nvPr/>
        </p:nvSpPr>
        <p:spPr>
          <a:xfrm>
            <a:off x="548640" y="1554480"/>
            <a:ext cx="3520440" cy="2148840"/>
          </a:xfrm>
          <a:prstGeom prst="roundRect">
            <a:avLst>
              <a:gd name="adj" fmla="val 4255"/>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5" name="Text 3"/>
          <p:cNvSpPr/>
          <p:nvPr/>
        </p:nvSpPr>
        <p:spPr>
          <a:xfrm>
            <a:off x="804672" y="1783080"/>
            <a:ext cx="3017520" cy="292608"/>
          </a:xfrm>
          <a:prstGeom prst="rect">
            <a:avLst/>
          </a:prstGeom>
          <a:noFill/>
          <a:ln/>
        </p:spPr>
        <p:txBody>
          <a:bodyPr wrap="square" rtlCol="0" anchor="ctr"/>
          <a:lstStyle/>
          <a:p>
            <a:pPr indent="0" marL="0">
              <a:buNone/>
            </a:pPr>
            <a:r>
              <a:rPr lang="en-US" sz="1250" b="1" spc="200" kern="0" dirty="0">
                <a:solidFill>
                  <a:srgbClr val="E23A4E"/>
                </a:solidFill>
                <a:latin typeface="Calibri" pitchFamily="34" charset="0"/>
                <a:ea typeface="Calibri" pitchFamily="34" charset="-122"/>
                <a:cs typeface="Calibri" pitchFamily="34" charset="-120"/>
              </a:rPr>
              <a:t>HOW SECURE?</a:t>
            </a:r>
            <a:endParaRPr lang="en-US" sz="1250" dirty="0"/>
          </a:p>
        </p:txBody>
      </p:sp>
      <p:sp>
        <p:nvSpPr>
          <p:cNvPr id="6" name="Text 4"/>
          <p:cNvSpPr/>
          <p:nvPr/>
        </p:nvSpPr>
        <p:spPr>
          <a:xfrm>
            <a:off x="786384" y="2084832"/>
            <a:ext cx="3108960" cy="822960"/>
          </a:xfrm>
          <a:prstGeom prst="rect">
            <a:avLst/>
          </a:prstGeom>
          <a:noFill/>
          <a:ln/>
        </p:spPr>
        <p:txBody>
          <a:bodyPr wrap="square" lIns="0" tIns="0" rIns="0" bIns="0" rtlCol="0" anchor="ctr"/>
          <a:lstStyle/>
          <a:p>
            <a:pPr indent="0" marL="0">
              <a:buNone/>
            </a:pPr>
            <a:r>
              <a:rPr lang="en-US" sz="3800" b="1" dirty="0">
                <a:solidFill>
                  <a:srgbClr val="EAF0FB"/>
                </a:solidFill>
                <a:latin typeface="Cambria" pitchFamily="34" charset="0"/>
                <a:ea typeface="Cambria" pitchFamily="34" charset="-122"/>
                <a:cs typeface="Cambria" pitchFamily="34" charset="-120"/>
              </a:rPr>
              <a:t>CRITICAL</a:t>
            </a:r>
            <a:endParaRPr lang="en-US" sz="3800" dirty="0"/>
          </a:p>
        </p:txBody>
      </p:sp>
      <p:sp>
        <p:nvSpPr>
          <p:cNvPr id="7" name="Text 5"/>
          <p:cNvSpPr/>
          <p:nvPr/>
        </p:nvSpPr>
        <p:spPr>
          <a:xfrm>
            <a:off x="804672" y="2926080"/>
            <a:ext cx="3063240" cy="640080"/>
          </a:xfrm>
          <a:prstGeom prst="rect">
            <a:avLst/>
          </a:prstGeom>
          <a:noFill/>
          <a:ln/>
        </p:spPr>
        <p:txBody>
          <a:bodyPr wrap="square" lIns="0" tIns="0" rIns="0" bIns="0" rtlCol="0" anchor="ctr"/>
          <a:lstStyle/>
          <a:p>
            <a:pPr indent="0" marL="0">
              <a:buNone/>
            </a:pPr>
            <a:r>
              <a:rPr lang="en-US" sz="1250" dirty="0">
                <a:solidFill>
                  <a:srgbClr val="9AA6BE"/>
                </a:solidFill>
                <a:latin typeface="Calibri" pitchFamily="34" charset="0"/>
                <a:ea typeface="Calibri" pitchFamily="34" charset="-122"/>
                <a:cs typeface="Calibri" pitchFamily="34" charset="-120"/>
              </a:rPr>
              <a:t>Backend trusts every caller. Not safe for real data.</a:t>
            </a:r>
            <a:endParaRPr lang="en-US" sz="1250" dirty="0"/>
          </a:p>
        </p:txBody>
      </p:sp>
      <p:sp>
        <p:nvSpPr>
          <p:cNvPr id="8" name="Shape 6"/>
          <p:cNvSpPr/>
          <p:nvPr/>
        </p:nvSpPr>
        <p:spPr>
          <a:xfrm>
            <a:off x="4315968" y="1554480"/>
            <a:ext cx="3520440" cy="2148840"/>
          </a:xfrm>
          <a:prstGeom prst="roundRect">
            <a:avLst>
              <a:gd name="adj" fmla="val 4255"/>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9" name="Text 7"/>
          <p:cNvSpPr/>
          <p:nvPr/>
        </p:nvSpPr>
        <p:spPr>
          <a:xfrm>
            <a:off x="4572000" y="1783080"/>
            <a:ext cx="3017520" cy="292608"/>
          </a:xfrm>
          <a:prstGeom prst="rect">
            <a:avLst/>
          </a:prstGeom>
          <a:noFill/>
          <a:ln/>
        </p:spPr>
        <p:txBody>
          <a:bodyPr wrap="square" rtlCol="0" anchor="ctr"/>
          <a:lstStyle/>
          <a:p>
            <a:pPr indent="0" marL="0">
              <a:buNone/>
            </a:pPr>
            <a:r>
              <a:rPr lang="en-US" sz="1250" b="1" spc="200" kern="0" dirty="0">
                <a:solidFill>
                  <a:srgbClr val="E8912B"/>
                </a:solidFill>
                <a:latin typeface="Calibri" pitchFamily="34" charset="0"/>
                <a:ea typeface="Calibri" pitchFamily="34" charset="-122"/>
                <a:cs typeface="Calibri" pitchFamily="34" charset="-120"/>
              </a:rPr>
              <a:t>SECURITY LEVEL</a:t>
            </a:r>
            <a:endParaRPr lang="en-US" sz="1250" dirty="0"/>
          </a:p>
        </p:txBody>
      </p:sp>
      <p:sp>
        <p:nvSpPr>
          <p:cNvPr id="10" name="Text 8"/>
          <p:cNvSpPr/>
          <p:nvPr/>
        </p:nvSpPr>
        <p:spPr>
          <a:xfrm>
            <a:off x="4553712" y="2084832"/>
            <a:ext cx="3108960" cy="822960"/>
          </a:xfrm>
          <a:prstGeom prst="rect">
            <a:avLst/>
          </a:prstGeom>
          <a:noFill/>
          <a:ln/>
        </p:spPr>
        <p:txBody>
          <a:bodyPr wrap="square" lIns="0" tIns="0" rIns="0" bIns="0" rtlCol="0" anchor="ctr"/>
          <a:lstStyle/>
          <a:p>
            <a:pPr indent="0" marL="0">
              <a:buNone/>
            </a:pPr>
            <a:r>
              <a:rPr lang="en-US" sz="3800" b="1" dirty="0">
                <a:solidFill>
                  <a:srgbClr val="EAF0FB"/>
                </a:solidFill>
                <a:latin typeface="Cambria" pitchFamily="34" charset="0"/>
                <a:ea typeface="Cambria" pitchFamily="34" charset="-122"/>
                <a:cs typeface="Cambria" pitchFamily="34" charset="-120"/>
              </a:rPr>
              <a:t>1 / 5</a:t>
            </a:r>
            <a:endParaRPr lang="en-US" sz="3800" dirty="0"/>
          </a:p>
        </p:txBody>
      </p:sp>
      <p:sp>
        <p:nvSpPr>
          <p:cNvPr id="11" name="Text 9"/>
          <p:cNvSpPr/>
          <p:nvPr/>
        </p:nvSpPr>
        <p:spPr>
          <a:xfrm>
            <a:off x="4572000" y="2926080"/>
            <a:ext cx="3063240" cy="640080"/>
          </a:xfrm>
          <a:prstGeom prst="rect">
            <a:avLst/>
          </a:prstGeom>
          <a:noFill/>
          <a:ln/>
        </p:spPr>
        <p:txBody>
          <a:bodyPr wrap="square" lIns="0" tIns="0" rIns="0" bIns="0" rtlCol="0" anchor="ctr"/>
          <a:lstStyle/>
          <a:p>
            <a:pPr indent="0" marL="0">
              <a:buNone/>
            </a:pPr>
            <a:r>
              <a:rPr lang="en-US" sz="1250" dirty="0">
                <a:solidFill>
                  <a:srgbClr val="9AA6BE"/>
                </a:solidFill>
                <a:latin typeface="Calibri" pitchFamily="34" charset="0"/>
                <a:ea typeface="Calibri" pitchFamily="34" charset="-122"/>
                <a:cs typeface="Calibri" pitchFamily="34" charset="-120"/>
              </a:rPr>
              <a:t>Ad-hoc / prototype. Target after fixes: Level 4–5.</a:t>
            </a:r>
            <a:endParaRPr lang="en-US" sz="1250" dirty="0"/>
          </a:p>
        </p:txBody>
      </p:sp>
      <p:sp>
        <p:nvSpPr>
          <p:cNvPr id="12" name="Shape 10"/>
          <p:cNvSpPr/>
          <p:nvPr/>
        </p:nvSpPr>
        <p:spPr>
          <a:xfrm>
            <a:off x="8083296" y="1554480"/>
            <a:ext cx="3520440" cy="2148840"/>
          </a:xfrm>
          <a:prstGeom prst="roundRect">
            <a:avLst>
              <a:gd name="adj" fmla="val 4255"/>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13" name="Text 11"/>
          <p:cNvSpPr/>
          <p:nvPr/>
        </p:nvSpPr>
        <p:spPr>
          <a:xfrm>
            <a:off x="8339328" y="1783080"/>
            <a:ext cx="3017520" cy="292608"/>
          </a:xfrm>
          <a:prstGeom prst="rect">
            <a:avLst/>
          </a:prstGeom>
          <a:noFill/>
          <a:ln/>
        </p:spPr>
        <p:txBody>
          <a:bodyPr wrap="square" rtlCol="0" anchor="ctr"/>
          <a:lstStyle/>
          <a:p>
            <a:pPr indent="0" marL="0">
              <a:buNone/>
            </a:pPr>
            <a:r>
              <a:rPr lang="en-US" sz="1250" b="1" spc="200" kern="0" dirty="0">
                <a:solidFill>
                  <a:srgbClr val="3FB27F"/>
                </a:solidFill>
                <a:latin typeface="Calibri" pitchFamily="34" charset="0"/>
                <a:ea typeface="Calibri" pitchFamily="34" charset="-122"/>
                <a:cs typeface="Calibri" pitchFamily="34" charset="-120"/>
              </a:rPr>
              <a:t>HOW SURE?</a:t>
            </a:r>
            <a:endParaRPr lang="en-US" sz="1250" dirty="0"/>
          </a:p>
        </p:txBody>
      </p:sp>
      <p:sp>
        <p:nvSpPr>
          <p:cNvPr id="14" name="Text 12"/>
          <p:cNvSpPr/>
          <p:nvPr/>
        </p:nvSpPr>
        <p:spPr>
          <a:xfrm>
            <a:off x="8321040" y="2084832"/>
            <a:ext cx="3108960" cy="822960"/>
          </a:xfrm>
          <a:prstGeom prst="rect">
            <a:avLst/>
          </a:prstGeom>
          <a:noFill/>
          <a:ln/>
        </p:spPr>
        <p:txBody>
          <a:bodyPr wrap="square" lIns="0" tIns="0" rIns="0" bIns="0" rtlCol="0" anchor="ctr"/>
          <a:lstStyle/>
          <a:p>
            <a:pPr indent="0" marL="0">
              <a:buNone/>
            </a:pPr>
            <a:r>
              <a:rPr lang="en-US" sz="3800" b="1" dirty="0">
                <a:solidFill>
                  <a:srgbClr val="EAF0FB"/>
                </a:solidFill>
                <a:latin typeface="Cambria" pitchFamily="34" charset="0"/>
                <a:ea typeface="Cambria" pitchFamily="34" charset="-122"/>
                <a:cs typeface="Cambria" pitchFamily="34" charset="-120"/>
              </a:rPr>
              <a:t>~95%</a:t>
            </a:r>
            <a:endParaRPr lang="en-US" sz="3800" dirty="0"/>
          </a:p>
        </p:txBody>
      </p:sp>
      <p:sp>
        <p:nvSpPr>
          <p:cNvPr id="15" name="Text 13"/>
          <p:cNvSpPr/>
          <p:nvPr/>
        </p:nvSpPr>
        <p:spPr>
          <a:xfrm>
            <a:off x="8339328" y="2926080"/>
            <a:ext cx="3063240" cy="640080"/>
          </a:xfrm>
          <a:prstGeom prst="rect">
            <a:avLst/>
          </a:prstGeom>
          <a:noFill/>
          <a:ln/>
        </p:spPr>
        <p:txBody>
          <a:bodyPr wrap="square" lIns="0" tIns="0" rIns="0" bIns="0" rtlCol="0" anchor="ctr"/>
          <a:lstStyle/>
          <a:p>
            <a:pPr indent="0" marL="0">
              <a:buNone/>
            </a:pPr>
            <a:r>
              <a:rPr lang="en-US" sz="1250" dirty="0">
                <a:solidFill>
                  <a:srgbClr val="9AA6BE"/>
                </a:solidFill>
                <a:latin typeface="Calibri" pitchFamily="34" charset="0"/>
                <a:ea typeface="Calibri" pitchFamily="34" charset="-122"/>
                <a:cs typeface="Calibri" pitchFamily="34" charset="-120"/>
              </a:rPr>
              <a:t>High confidence — full white-box source review.</a:t>
            </a:r>
            <a:endParaRPr lang="en-US" sz="1250" dirty="0"/>
          </a:p>
        </p:txBody>
      </p:sp>
      <p:sp>
        <p:nvSpPr>
          <p:cNvPr id="16" name="Shape 14"/>
          <p:cNvSpPr/>
          <p:nvPr/>
        </p:nvSpPr>
        <p:spPr>
          <a:xfrm>
            <a:off x="548640" y="3977640"/>
            <a:ext cx="11091672" cy="960120"/>
          </a:xfrm>
          <a:prstGeom prst="roundRect">
            <a:avLst>
              <a:gd name="adj" fmla="val 9524"/>
            </a:avLst>
          </a:prstGeom>
          <a:solidFill>
            <a:srgbClr val="1F2E4D"/>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17" name="Text 15"/>
          <p:cNvSpPr/>
          <p:nvPr/>
        </p:nvSpPr>
        <p:spPr>
          <a:xfrm>
            <a:off x="822960" y="4114800"/>
            <a:ext cx="10515600" cy="685800"/>
          </a:xfrm>
          <a:prstGeom prst="rect">
            <a:avLst/>
          </a:prstGeom>
          <a:noFill/>
          <a:ln/>
        </p:spPr>
        <p:txBody>
          <a:bodyPr wrap="square" rtlCol="0" anchor="ctr"/>
          <a:lstStyle/>
          <a:p>
            <a:pPr indent="0" marL="0">
              <a:lnSpc>
                <a:spcPct val="115000"/>
              </a:lnSpc>
              <a:buNone/>
            </a:pPr>
            <a:r>
              <a:rPr lang="en-US" sz="1500" b="1" dirty="0">
                <a:solidFill>
                  <a:srgbClr val="39C0C8"/>
                </a:solidFill>
                <a:latin typeface="Calibri" pitchFamily="34" charset="0"/>
                <a:ea typeface="Calibri" pitchFamily="34" charset="-122"/>
                <a:cs typeface="Calibri" pitchFamily="34" charset="-120"/>
              </a:rPr>
              <a:t>The single fact that decides everything:  </a:t>
            </a:r>
            <a:pPr indent="0" marL="0">
              <a:lnSpc>
                <a:spcPct val="115000"/>
              </a:lnSpc>
              <a:buNone/>
            </a:pPr>
            <a:r>
              <a:rPr lang="en-US" sz="1500" dirty="0">
                <a:solidFill>
                  <a:srgbClr val="EAF0FB"/>
                </a:solidFill>
                <a:latin typeface="Calibri" pitchFamily="34" charset="0"/>
                <a:ea typeface="Calibri" pitchFamily="34" charset="-122"/>
                <a:cs typeface="Calibri" pitchFamily="34" charset="-120"/>
              </a:rPr>
              <a:t>every </a:t>
            </a:r>
            <a:pPr indent="0" marL="0">
              <a:lnSpc>
                <a:spcPct val="115000"/>
              </a:lnSpc>
              <a:buNone/>
            </a:pPr>
            <a:r>
              <a:rPr lang="en-US" sz="1500" dirty="0">
                <a:solidFill>
                  <a:srgbClr val="E4C23B"/>
                </a:solidFill>
                <a:latin typeface="Courier New" pitchFamily="34" charset="0"/>
                <a:ea typeface="Courier New" pitchFamily="34" charset="-122"/>
                <a:cs typeface="Courier New" pitchFamily="34" charset="-120"/>
              </a:rPr>
              <a:t>/api/*</a:t>
            </a:r>
            <a:pPr indent="0" marL="0">
              <a:lnSpc>
                <a:spcPct val="115000"/>
              </a:lnSpc>
              <a:buNone/>
            </a:pPr>
            <a:r>
              <a:rPr lang="en-US" sz="1500" dirty="0">
                <a:solidFill>
                  <a:srgbClr val="EAF0FB"/>
                </a:solidFill>
                <a:latin typeface="Calibri" pitchFamily="34" charset="0"/>
                <a:ea typeface="Calibri" pitchFamily="34" charset="-122"/>
                <a:cs typeface="Calibri" pitchFamily="34" charset="-120"/>
              </a:rPr>
              <a:t> endpoint is reachable with no authentication. Anyone who can route a request to the backend can read, alter, or delete every worker, timesheet, payroll and audit record.</a:t>
            </a:r>
            <a:endParaRPr lang="en-US" sz="1500" dirty="0"/>
          </a:p>
        </p:txBody>
      </p:sp>
      <p:sp>
        <p:nvSpPr>
          <p:cNvPr id="18" name="Shape 16"/>
          <p:cNvSpPr/>
          <p:nvPr/>
        </p:nvSpPr>
        <p:spPr>
          <a:xfrm>
            <a:off x="548640" y="5120640"/>
            <a:ext cx="11091672" cy="1051560"/>
          </a:xfrm>
          <a:prstGeom prst="roundRect">
            <a:avLst>
              <a:gd name="adj" fmla="val 8696"/>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19" name="Text 17"/>
          <p:cNvSpPr/>
          <p:nvPr/>
        </p:nvSpPr>
        <p:spPr>
          <a:xfrm>
            <a:off x="822960" y="5212080"/>
            <a:ext cx="10515600" cy="868680"/>
          </a:xfrm>
          <a:prstGeom prst="rect">
            <a:avLst/>
          </a:prstGeom>
          <a:noFill/>
          <a:ln/>
        </p:spPr>
        <p:txBody>
          <a:bodyPr wrap="square" rtlCol="0" anchor="ctr"/>
          <a:lstStyle/>
          <a:p>
            <a:pPr indent="0" marL="0">
              <a:buNone/>
            </a:pPr>
            <a:r>
              <a:rPr lang="en-US" sz="1400" i="1" dirty="0">
                <a:solidFill>
                  <a:srgbClr val="EAF0FB"/>
                </a:solidFill>
                <a:latin typeface="Calibri" pitchFamily="34" charset="0"/>
                <a:ea typeface="Calibri" pitchFamily="34" charset="-122"/>
                <a:cs typeface="Calibri" pitchFamily="34" charset="-120"/>
              </a:rPr>
              <a:t>Today the only thing protecting the full PII dataset is network placement (the API is meant to be internal-only) — a single, fragile line of defence, not a security architecture.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524"/>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300" kern="0" dirty="0">
                <a:solidFill>
                  <a:srgbClr val="39C0C8"/>
                </a:solidFill>
                <a:latin typeface="Calibri" pitchFamily="34" charset="0"/>
                <a:ea typeface="Calibri" pitchFamily="34" charset="-122"/>
                <a:cs typeface="Calibri" pitchFamily="34" charset="-120"/>
              </a:rPr>
              <a:t>SECTION 02 · ROOT CAUSE</a:t>
            </a:r>
            <a:endParaRPr lang="en-US" sz="1200" dirty="0"/>
          </a:p>
        </p:txBody>
      </p:sp>
      <p:sp>
        <p:nvSpPr>
          <p:cNvPr id="3" name="Text 1"/>
          <p:cNvSpPr/>
          <p:nvPr/>
        </p:nvSpPr>
        <p:spPr>
          <a:xfrm>
            <a:off x="530352" y="658368"/>
            <a:ext cx="11155680" cy="640080"/>
          </a:xfrm>
          <a:prstGeom prst="rect">
            <a:avLst/>
          </a:prstGeom>
          <a:noFill/>
          <a:ln/>
        </p:spPr>
        <p:txBody>
          <a:bodyPr wrap="square" rtlCol="0" anchor="ctr"/>
          <a:lstStyle/>
          <a:p>
            <a:pPr indent="0" marL="0">
              <a:buNone/>
            </a:pPr>
            <a:r>
              <a:rPr lang="en-US" sz="3000" b="1" dirty="0">
                <a:solidFill>
                  <a:srgbClr val="EAF0FB"/>
                </a:solidFill>
                <a:latin typeface="Cambria" pitchFamily="34" charset="0"/>
                <a:ea typeface="Cambria" pitchFamily="34" charset="-122"/>
                <a:cs typeface="Cambria" pitchFamily="34" charset="-120"/>
              </a:rPr>
              <a:t>Two security models — the insecure one runs</a:t>
            </a:r>
            <a:endParaRPr lang="en-US" sz="3000" dirty="0"/>
          </a:p>
        </p:txBody>
      </p:sp>
      <p:sp>
        <p:nvSpPr>
          <p:cNvPr id="4" name="Shape 2"/>
          <p:cNvSpPr/>
          <p:nvPr/>
        </p:nvSpPr>
        <p:spPr>
          <a:xfrm>
            <a:off x="548640" y="1600200"/>
            <a:ext cx="5394960" cy="3794760"/>
          </a:xfrm>
          <a:prstGeom prst="roundRect">
            <a:avLst>
              <a:gd name="adj" fmla="val 2410"/>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5" name="Shape 3"/>
          <p:cNvSpPr/>
          <p:nvPr/>
        </p:nvSpPr>
        <p:spPr>
          <a:xfrm>
            <a:off x="777240" y="1828800"/>
            <a:ext cx="2468880" cy="310896"/>
          </a:xfrm>
          <a:prstGeom prst="roundRect">
            <a:avLst>
              <a:gd name="adj" fmla="val 50000"/>
            </a:avLst>
          </a:prstGeom>
          <a:solidFill>
            <a:srgbClr val="E23A4E"/>
          </a:solidFill>
          <a:ln/>
        </p:spPr>
      </p:sp>
      <p:sp>
        <p:nvSpPr>
          <p:cNvPr id="6" name="Text 4"/>
          <p:cNvSpPr/>
          <p:nvPr/>
        </p:nvSpPr>
        <p:spPr>
          <a:xfrm>
            <a:off x="777240" y="1828800"/>
            <a:ext cx="24688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MODEL A · WHAT RUNS TODAY</a:t>
            </a:r>
            <a:endParaRPr lang="en-US" sz="1100" dirty="0"/>
          </a:p>
        </p:txBody>
      </p:sp>
      <p:sp>
        <p:nvSpPr>
          <p:cNvPr id="7" name="Text 5"/>
          <p:cNvSpPr/>
          <p:nvPr/>
        </p:nvSpPr>
        <p:spPr>
          <a:xfrm>
            <a:off x="868680" y="2331720"/>
            <a:ext cx="4892040" cy="2834640"/>
          </a:xfrm>
          <a:prstGeom prst="rect">
            <a:avLst/>
          </a:prstGeom>
          <a:noFill/>
          <a:ln/>
        </p:spPr>
        <p:txBody>
          <a:bodyPr wrap="square" rtlCol="0" anchor="t"/>
          <a:lstStyle/>
          <a:p>
            <a:pPr marL="177800" indent="-177800">
              <a:spcAft>
                <a:spcPts val="1000"/>
              </a:spcAft>
              <a:buSzPct val="100000"/>
              <a:buChar char="•"/>
            </a:pPr>
            <a:r>
              <a:rPr lang="en-US" sz="1350" dirty="0">
                <a:solidFill>
                  <a:srgbClr val="EAF0FB"/>
                </a:solidFill>
                <a:latin typeface="Calibri" pitchFamily="34" charset="0"/>
                <a:ea typeface="Calibri" pitchFamily="34" charset="-122"/>
                <a:cs typeface="Calibri" pitchFamily="34" charset="-120"/>
              </a:rPr>
              <a:t>Auth: hardcoded demo credentials, entirely in-browser</a:t>
            </a:r>
            <a:endParaRPr lang="en-US" sz="1350" dirty="0"/>
          </a:p>
          <a:p>
            <a:pPr marL="177800" indent="-177800">
              <a:spcAft>
                <a:spcPts val="1000"/>
              </a:spcAft>
              <a:buSzPct val="100000"/>
              <a:buChar char="•"/>
            </a:pPr>
            <a:r>
              <a:rPr lang="en-US" sz="1350" dirty="0">
                <a:solidFill>
                  <a:srgbClr val="EAF0FB"/>
                </a:solidFill>
                <a:latin typeface="Calibri" pitchFamily="34" charset="0"/>
                <a:ea typeface="Calibri" pitchFamily="34" charset="-122"/>
                <a:cs typeface="Calibri" pitchFamily="34" charset="-120"/>
              </a:rPr>
              <a:t>Data path: Flutter → Node API with one shared key, no user identity</a:t>
            </a:r>
            <a:endParaRPr lang="en-US" sz="1350" dirty="0"/>
          </a:p>
          <a:p>
            <a:pPr marL="177800" indent="-177800">
              <a:spcAft>
                <a:spcPts val="1000"/>
              </a:spcAft>
              <a:buSzPct val="100000"/>
              <a:buChar char="•"/>
            </a:pPr>
            <a:r>
              <a:rPr lang="en-US" sz="1350" dirty="0">
                <a:solidFill>
                  <a:srgbClr val="EAF0FB"/>
                </a:solidFill>
                <a:latin typeface="Calibri" pitchFamily="34" charset="0"/>
                <a:ea typeface="Calibri" pitchFamily="34" charset="-122"/>
                <a:cs typeface="Calibri" pitchFamily="34" charset="-120"/>
              </a:rPr>
              <a:t>Authorization: UI-only; switchRole() assumes any role, no re-auth</a:t>
            </a:r>
            <a:endParaRPr lang="en-US" sz="1350" dirty="0"/>
          </a:p>
          <a:p>
            <a:pPr marL="177800" indent="-177800">
              <a:spcAft>
                <a:spcPts val="1000"/>
              </a:spcAft>
              <a:buSzPct val="100000"/>
              <a:buChar char="•"/>
            </a:pPr>
            <a:r>
              <a:rPr lang="en-US" sz="1350" dirty="0">
                <a:solidFill>
                  <a:srgbClr val="EAF0FB"/>
                </a:solidFill>
                <a:latin typeface="Calibri" pitchFamily="34" charset="0"/>
                <a:ea typeface="Calibri" pitchFamily="34" charset="-122"/>
                <a:cs typeface="Calibri" pitchFamily="34" charset="-120"/>
              </a:rPr>
              <a:t>Audit: hash chain built on the client, stored as-is</a:t>
            </a:r>
            <a:endParaRPr lang="en-US" sz="1350" dirty="0"/>
          </a:p>
        </p:txBody>
      </p:sp>
      <p:sp>
        <p:nvSpPr>
          <p:cNvPr id="8" name="Text 6"/>
          <p:cNvSpPr/>
          <p:nvPr/>
        </p:nvSpPr>
        <p:spPr>
          <a:xfrm>
            <a:off x="868680" y="4892040"/>
            <a:ext cx="4937760" cy="411480"/>
          </a:xfrm>
          <a:prstGeom prst="rect">
            <a:avLst/>
          </a:prstGeom>
          <a:noFill/>
          <a:ln/>
        </p:spPr>
        <p:txBody>
          <a:bodyPr wrap="square" rtlCol="0" anchor="ctr"/>
          <a:lstStyle/>
          <a:p>
            <a:pPr indent="0" marL="0">
              <a:buNone/>
            </a:pPr>
            <a:r>
              <a:rPr lang="en-US" sz="1200" b="1" i="1" dirty="0">
                <a:solidFill>
                  <a:srgbClr val="E23A4E"/>
                </a:solidFill>
                <a:latin typeface="Calibri" pitchFamily="34" charset="0"/>
                <a:ea typeface="Calibri" pitchFamily="34" charset="-122"/>
                <a:cs typeface="Calibri" pitchFamily="34" charset="-120"/>
              </a:rPr>
              <a:t>RLS never executes — no end-user JWT ever reaches the database.</a:t>
            </a:r>
            <a:endParaRPr lang="en-US" sz="1200" dirty="0"/>
          </a:p>
        </p:txBody>
      </p:sp>
      <p:sp>
        <p:nvSpPr>
          <p:cNvPr id="9" name="Shape 7"/>
          <p:cNvSpPr/>
          <p:nvPr/>
        </p:nvSpPr>
        <p:spPr>
          <a:xfrm>
            <a:off x="6245352" y="1600200"/>
            <a:ext cx="5394960" cy="3794760"/>
          </a:xfrm>
          <a:prstGeom prst="roundRect">
            <a:avLst>
              <a:gd name="adj" fmla="val 2410"/>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10" name="Shape 8"/>
          <p:cNvSpPr/>
          <p:nvPr/>
        </p:nvSpPr>
        <p:spPr>
          <a:xfrm>
            <a:off x="6473952" y="1828800"/>
            <a:ext cx="2651760" cy="310896"/>
          </a:xfrm>
          <a:prstGeom prst="roundRect">
            <a:avLst>
              <a:gd name="adj" fmla="val 50000"/>
            </a:avLst>
          </a:prstGeom>
          <a:solidFill>
            <a:srgbClr val="3FB27F"/>
          </a:solidFill>
          <a:ln/>
        </p:spPr>
      </p:sp>
      <p:sp>
        <p:nvSpPr>
          <p:cNvPr id="11" name="Text 9"/>
          <p:cNvSpPr/>
          <p:nvPr/>
        </p:nvSpPr>
        <p:spPr>
          <a:xfrm>
            <a:off x="6473952" y="1828800"/>
            <a:ext cx="26517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MODEL B · DESIGNED, DORMANT</a:t>
            </a:r>
            <a:endParaRPr lang="en-US" sz="1100" dirty="0"/>
          </a:p>
        </p:txBody>
      </p:sp>
      <p:sp>
        <p:nvSpPr>
          <p:cNvPr id="12" name="Text 10"/>
          <p:cNvSpPr/>
          <p:nvPr/>
        </p:nvSpPr>
        <p:spPr>
          <a:xfrm>
            <a:off x="6565392" y="2331720"/>
            <a:ext cx="4892040" cy="2834640"/>
          </a:xfrm>
          <a:prstGeom prst="rect">
            <a:avLst/>
          </a:prstGeom>
          <a:noFill/>
          <a:ln/>
        </p:spPr>
        <p:txBody>
          <a:bodyPr wrap="square" rtlCol="0" anchor="t"/>
          <a:lstStyle/>
          <a:p>
            <a:pPr marL="177800" indent="-177800">
              <a:spcAft>
                <a:spcPts val="1000"/>
              </a:spcAft>
              <a:buSzPct val="100000"/>
              <a:buChar char="•"/>
            </a:pPr>
            <a:r>
              <a:rPr lang="en-US" sz="1350" dirty="0">
                <a:solidFill>
                  <a:srgbClr val="EAF0FB"/>
                </a:solidFill>
                <a:latin typeface="Calibri" pitchFamily="34" charset="0"/>
                <a:ea typeface="Calibri" pitchFamily="34" charset="-122"/>
                <a:cs typeface="Calibri" pitchFamily="34" charset="-120"/>
              </a:rPr>
              <a:t>Auth: real Supabase Auth (verified JWT) — code exists</a:t>
            </a:r>
            <a:endParaRPr lang="en-US" sz="1350" dirty="0"/>
          </a:p>
          <a:p>
            <a:pPr marL="177800" indent="-177800">
              <a:spcAft>
                <a:spcPts val="1000"/>
              </a:spcAft>
              <a:buSzPct val="100000"/>
              <a:buChar char="•"/>
            </a:pPr>
            <a:r>
              <a:rPr lang="en-US" sz="1350" dirty="0">
                <a:solidFill>
                  <a:srgbClr val="EAF0FB"/>
                </a:solidFill>
                <a:latin typeface="Calibri" pitchFamily="34" charset="0"/>
                <a:ea typeface="Calibri" pitchFamily="34" charset="-122"/>
                <a:cs typeface="Calibri" pitchFamily="34" charset="-120"/>
              </a:rPr>
              <a:t>Data path: Flutter → Supabase directly, per-user JWT</a:t>
            </a:r>
            <a:endParaRPr lang="en-US" sz="1350" dirty="0"/>
          </a:p>
          <a:p>
            <a:pPr marL="177800" indent="-177800">
              <a:spcAft>
                <a:spcPts val="1000"/>
              </a:spcAft>
              <a:buSzPct val="100000"/>
              <a:buChar char="•"/>
            </a:pPr>
            <a:r>
              <a:rPr lang="en-US" sz="1350" dirty="0">
                <a:solidFill>
                  <a:srgbClr val="EAF0FB"/>
                </a:solidFill>
                <a:latin typeface="Calibri" pitchFamily="34" charset="0"/>
                <a:ea typeface="Calibri" pitchFamily="34" charset="-122"/>
                <a:cs typeface="Calibri" pitchFamily="34" charset="-120"/>
              </a:rPr>
              <a:t>Authorization: Postgres row-level security, tenant isolation</a:t>
            </a:r>
            <a:endParaRPr lang="en-US" sz="1350" dirty="0"/>
          </a:p>
          <a:p>
            <a:pPr marL="177800" indent="-177800">
              <a:spcAft>
                <a:spcPts val="1000"/>
              </a:spcAft>
              <a:buSzPct val="100000"/>
              <a:buChar char="•"/>
            </a:pPr>
            <a:r>
              <a:rPr lang="en-US" sz="1350" dirty="0">
                <a:solidFill>
                  <a:srgbClr val="EAF0FB"/>
                </a:solidFill>
                <a:latin typeface="Calibri" pitchFamily="34" charset="0"/>
                <a:ea typeface="Calibri" pitchFamily="34" charset="-122"/>
                <a:cs typeface="Calibri" pitchFamily="34" charset="-120"/>
              </a:rPr>
              <a:t>Audit: insert restricted to service_role</a:t>
            </a:r>
            <a:endParaRPr lang="en-US" sz="1350" dirty="0"/>
          </a:p>
        </p:txBody>
      </p:sp>
      <p:sp>
        <p:nvSpPr>
          <p:cNvPr id="13" name="Text 11"/>
          <p:cNvSpPr/>
          <p:nvPr/>
        </p:nvSpPr>
        <p:spPr>
          <a:xfrm>
            <a:off x="6565392" y="4892040"/>
            <a:ext cx="4937760" cy="411480"/>
          </a:xfrm>
          <a:prstGeom prst="rect">
            <a:avLst/>
          </a:prstGeom>
          <a:noFill/>
          <a:ln/>
        </p:spPr>
        <p:txBody>
          <a:bodyPr wrap="square" rtlCol="0" anchor="ctr"/>
          <a:lstStyle/>
          <a:p>
            <a:pPr indent="0" marL="0">
              <a:buNone/>
            </a:pPr>
            <a:r>
              <a:rPr lang="en-US" sz="1200" b="1" i="1" dirty="0">
                <a:solidFill>
                  <a:srgbClr val="3FB27F"/>
                </a:solidFill>
                <a:latin typeface="Calibri" pitchFamily="34" charset="0"/>
                <a:ea typeface="Calibri" pitchFamily="34" charset="-122"/>
                <a:cs typeface="Calibri" pitchFamily="34" charset="-120"/>
              </a:rPr>
              <a:t>Instantiated in main.dart — then never used to gate access.</a:t>
            </a:r>
            <a:endParaRPr lang="en-US" sz="1200" dirty="0"/>
          </a:p>
        </p:txBody>
      </p:sp>
      <p:sp>
        <p:nvSpPr>
          <p:cNvPr id="14" name="Shape 12"/>
          <p:cNvSpPr/>
          <p:nvPr/>
        </p:nvSpPr>
        <p:spPr>
          <a:xfrm>
            <a:off x="548640" y="5532120"/>
            <a:ext cx="11091672" cy="685800"/>
          </a:xfrm>
          <a:prstGeom prst="roundRect">
            <a:avLst>
              <a:gd name="adj" fmla="val 13333"/>
            </a:avLst>
          </a:prstGeom>
          <a:solidFill>
            <a:srgbClr val="1F2E4D"/>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15" name="Text 13"/>
          <p:cNvSpPr/>
          <p:nvPr/>
        </p:nvSpPr>
        <p:spPr>
          <a:xfrm>
            <a:off x="822960" y="5605272"/>
            <a:ext cx="10515600" cy="548640"/>
          </a:xfrm>
          <a:prstGeom prst="rect">
            <a:avLst/>
          </a:prstGeom>
          <a:noFill/>
          <a:ln/>
        </p:spPr>
        <p:txBody>
          <a:bodyPr wrap="square" rtlCol="0" anchor="ctr"/>
          <a:lstStyle/>
          <a:p>
            <a:pPr indent="0" marL="0">
              <a:buNone/>
            </a:pPr>
            <a:r>
              <a:rPr lang="en-US" sz="1350" b="1" dirty="0">
                <a:solidFill>
                  <a:srgbClr val="39C0C8"/>
                </a:solidFill>
                <a:latin typeface="Calibri" pitchFamily="34" charset="0"/>
                <a:ea typeface="Calibri" pitchFamily="34" charset="-122"/>
                <a:cs typeface="Calibri" pitchFamily="34" charset="-120"/>
              </a:rPr>
              <a:t>The gap is not knowledge — it is wiring.  </a:t>
            </a:r>
            <a:pPr indent="0" marL="0">
              <a:buNone/>
            </a:pPr>
            <a:r>
              <a:rPr lang="en-US" sz="1350" dirty="0">
                <a:solidFill>
                  <a:srgbClr val="EAF0FB"/>
                </a:solidFill>
                <a:latin typeface="Calibri" pitchFamily="34" charset="0"/>
                <a:ea typeface="Calibri" pitchFamily="34" charset="-122"/>
                <a:cs typeface="Calibri" pitchFamily="34" charset="-120"/>
              </a:rPr>
              <a:t>A genuinely secure design already exists in the repo; it is simply not connected. That is good news: the fix is well-defined.</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524"/>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300" kern="0" dirty="0">
                <a:solidFill>
                  <a:srgbClr val="39C0C8"/>
                </a:solidFill>
                <a:latin typeface="Calibri" pitchFamily="34" charset="0"/>
                <a:ea typeface="Calibri" pitchFamily="34" charset="-122"/>
                <a:cs typeface="Calibri" pitchFamily="34" charset="-120"/>
              </a:rPr>
              <a:t>SECTION 03 · FINDINGS</a:t>
            </a:r>
            <a:endParaRPr lang="en-US" sz="1200" dirty="0"/>
          </a:p>
        </p:txBody>
      </p:sp>
      <p:sp>
        <p:nvSpPr>
          <p:cNvPr id="3" name="Text 1"/>
          <p:cNvSpPr/>
          <p:nvPr/>
        </p:nvSpPr>
        <p:spPr>
          <a:xfrm>
            <a:off x="530352" y="658368"/>
            <a:ext cx="11155680" cy="640080"/>
          </a:xfrm>
          <a:prstGeom prst="rect">
            <a:avLst/>
          </a:prstGeom>
          <a:noFill/>
          <a:ln/>
        </p:spPr>
        <p:txBody>
          <a:bodyPr wrap="square" rtlCol="0" anchor="ctr"/>
          <a:lstStyle/>
          <a:p>
            <a:pPr indent="0" marL="0">
              <a:buNone/>
            </a:pPr>
            <a:r>
              <a:rPr lang="en-US" sz="3000" b="1" dirty="0">
                <a:solidFill>
                  <a:srgbClr val="EAF0FB"/>
                </a:solidFill>
                <a:latin typeface="Cambria" pitchFamily="34" charset="0"/>
                <a:ea typeface="Cambria" pitchFamily="34" charset="-122"/>
                <a:cs typeface="Cambria" pitchFamily="34" charset="-120"/>
              </a:rPr>
              <a:t>Findings at a glance</a:t>
            </a:r>
            <a:endParaRPr lang="en-US" sz="3000" dirty="0"/>
          </a:p>
        </p:txBody>
      </p:sp>
      <p:sp>
        <p:nvSpPr>
          <p:cNvPr id="4" name="Shape 2"/>
          <p:cNvSpPr/>
          <p:nvPr/>
        </p:nvSpPr>
        <p:spPr>
          <a:xfrm>
            <a:off x="548640" y="1600200"/>
            <a:ext cx="1325880" cy="1371600"/>
          </a:xfrm>
          <a:prstGeom prst="roundRect">
            <a:avLst>
              <a:gd name="adj" fmla="val 6897"/>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5" name="Text 3"/>
          <p:cNvSpPr/>
          <p:nvPr/>
        </p:nvSpPr>
        <p:spPr>
          <a:xfrm>
            <a:off x="548640" y="1691640"/>
            <a:ext cx="1325880" cy="777240"/>
          </a:xfrm>
          <a:prstGeom prst="rect">
            <a:avLst/>
          </a:prstGeom>
          <a:noFill/>
          <a:ln/>
        </p:spPr>
        <p:txBody>
          <a:bodyPr wrap="square" lIns="0" tIns="0" rIns="0" bIns="0" rtlCol="0" anchor="ctr"/>
          <a:lstStyle/>
          <a:p>
            <a:pPr algn="ctr" indent="0" marL="0">
              <a:buNone/>
            </a:pPr>
            <a:r>
              <a:rPr lang="en-US" sz="4400" b="1" dirty="0">
                <a:solidFill>
                  <a:srgbClr val="E23A4E"/>
                </a:solidFill>
                <a:latin typeface="Cambria" pitchFamily="34" charset="0"/>
                <a:ea typeface="Cambria" pitchFamily="34" charset="-122"/>
                <a:cs typeface="Cambria" pitchFamily="34" charset="-120"/>
              </a:rPr>
              <a:t>4</a:t>
            </a:r>
            <a:endParaRPr lang="en-US" sz="4400" dirty="0"/>
          </a:p>
        </p:txBody>
      </p:sp>
      <p:sp>
        <p:nvSpPr>
          <p:cNvPr id="6" name="Text 4"/>
          <p:cNvSpPr/>
          <p:nvPr/>
        </p:nvSpPr>
        <p:spPr>
          <a:xfrm>
            <a:off x="548640" y="2514600"/>
            <a:ext cx="1325880" cy="320040"/>
          </a:xfrm>
          <a:prstGeom prst="rect">
            <a:avLst/>
          </a:prstGeom>
          <a:noFill/>
          <a:ln/>
        </p:spPr>
        <p:txBody>
          <a:bodyPr wrap="square" rtlCol="0" anchor="ctr"/>
          <a:lstStyle/>
          <a:p>
            <a:pPr algn="ctr" indent="0" marL="0">
              <a:buNone/>
            </a:pPr>
            <a:r>
              <a:rPr lang="en-US" sz="1100" b="1" spc="100" kern="0" dirty="0">
                <a:solidFill>
                  <a:srgbClr val="9AA6BE"/>
                </a:solidFill>
                <a:latin typeface="Calibri" pitchFamily="34" charset="0"/>
                <a:ea typeface="Calibri" pitchFamily="34" charset="-122"/>
                <a:cs typeface="Calibri" pitchFamily="34" charset="-120"/>
              </a:rPr>
              <a:t>CRITICAL</a:t>
            </a:r>
            <a:endParaRPr lang="en-US" sz="1100" dirty="0"/>
          </a:p>
        </p:txBody>
      </p:sp>
      <p:sp>
        <p:nvSpPr>
          <p:cNvPr id="7" name="Shape 5"/>
          <p:cNvSpPr/>
          <p:nvPr/>
        </p:nvSpPr>
        <p:spPr>
          <a:xfrm>
            <a:off x="2029968" y="1600200"/>
            <a:ext cx="1325880" cy="1371600"/>
          </a:xfrm>
          <a:prstGeom prst="roundRect">
            <a:avLst>
              <a:gd name="adj" fmla="val 6897"/>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8" name="Text 6"/>
          <p:cNvSpPr/>
          <p:nvPr/>
        </p:nvSpPr>
        <p:spPr>
          <a:xfrm>
            <a:off x="2029968" y="1691640"/>
            <a:ext cx="1325880" cy="777240"/>
          </a:xfrm>
          <a:prstGeom prst="rect">
            <a:avLst/>
          </a:prstGeom>
          <a:noFill/>
          <a:ln/>
        </p:spPr>
        <p:txBody>
          <a:bodyPr wrap="square" lIns="0" tIns="0" rIns="0" bIns="0" rtlCol="0" anchor="ctr"/>
          <a:lstStyle/>
          <a:p>
            <a:pPr algn="ctr" indent="0" marL="0">
              <a:buNone/>
            </a:pPr>
            <a:r>
              <a:rPr lang="en-US" sz="4400" b="1" dirty="0">
                <a:solidFill>
                  <a:srgbClr val="E8912B"/>
                </a:solidFill>
                <a:latin typeface="Cambria" pitchFamily="34" charset="0"/>
                <a:ea typeface="Cambria" pitchFamily="34" charset="-122"/>
                <a:cs typeface="Cambria" pitchFamily="34" charset="-120"/>
              </a:rPr>
              <a:t>6</a:t>
            </a:r>
            <a:endParaRPr lang="en-US" sz="4400" dirty="0"/>
          </a:p>
        </p:txBody>
      </p:sp>
      <p:sp>
        <p:nvSpPr>
          <p:cNvPr id="9" name="Text 7"/>
          <p:cNvSpPr/>
          <p:nvPr/>
        </p:nvSpPr>
        <p:spPr>
          <a:xfrm>
            <a:off x="2029968" y="2514600"/>
            <a:ext cx="1325880" cy="320040"/>
          </a:xfrm>
          <a:prstGeom prst="rect">
            <a:avLst/>
          </a:prstGeom>
          <a:noFill/>
          <a:ln/>
        </p:spPr>
        <p:txBody>
          <a:bodyPr wrap="square" rtlCol="0" anchor="ctr"/>
          <a:lstStyle/>
          <a:p>
            <a:pPr algn="ctr" indent="0" marL="0">
              <a:buNone/>
            </a:pPr>
            <a:r>
              <a:rPr lang="en-US" sz="1100" b="1" spc="100" kern="0" dirty="0">
                <a:solidFill>
                  <a:srgbClr val="9AA6BE"/>
                </a:solidFill>
                <a:latin typeface="Calibri" pitchFamily="34" charset="0"/>
                <a:ea typeface="Calibri" pitchFamily="34" charset="-122"/>
                <a:cs typeface="Calibri" pitchFamily="34" charset="-120"/>
              </a:rPr>
              <a:t>HIGH</a:t>
            </a:r>
            <a:endParaRPr lang="en-US" sz="1100" dirty="0"/>
          </a:p>
        </p:txBody>
      </p:sp>
      <p:sp>
        <p:nvSpPr>
          <p:cNvPr id="10" name="Shape 8"/>
          <p:cNvSpPr/>
          <p:nvPr/>
        </p:nvSpPr>
        <p:spPr>
          <a:xfrm>
            <a:off x="3511296" y="1600200"/>
            <a:ext cx="1325880" cy="1371600"/>
          </a:xfrm>
          <a:prstGeom prst="roundRect">
            <a:avLst>
              <a:gd name="adj" fmla="val 6897"/>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11" name="Text 9"/>
          <p:cNvSpPr/>
          <p:nvPr/>
        </p:nvSpPr>
        <p:spPr>
          <a:xfrm>
            <a:off x="3511296" y="1691640"/>
            <a:ext cx="1325880" cy="777240"/>
          </a:xfrm>
          <a:prstGeom prst="rect">
            <a:avLst/>
          </a:prstGeom>
          <a:noFill/>
          <a:ln/>
        </p:spPr>
        <p:txBody>
          <a:bodyPr wrap="square" lIns="0" tIns="0" rIns="0" bIns="0" rtlCol="0" anchor="ctr"/>
          <a:lstStyle/>
          <a:p>
            <a:pPr algn="ctr" indent="0" marL="0">
              <a:buNone/>
            </a:pPr>
            <a:r>
              <a:rPr lang="en-US" sz="4400" b="1" dirty="0">
                <a:solidFill>
                  <a:srgbClr val="E4C23B"/>
                </a:solidFill>
                <a:latin typeface="Cambria" pitchFamily="34" charset="0"/>
                <a:ea typeface="Cambria" pitchFamily="34" charset="-122"/>
                <a:cs typeface="Cambria" pitchFamily="34" charset="-120"/>
              </a:rPr>
              <a:t>5</a:t>
            </a:r>
            <a:endParaRPr lang="en-US" sz="4400" dirty="0"/>
          </a:p>
        </p:txBody>
      </p:sp>
      <p:sp>
        <p:nvSpPr>
          <p:cNvPr id="12" name="Text 10"/>
          <p:cNvSpPr/>
          <p:nvPr/>
        </p:nvSpPr>
        <p:spPr>
          <a:xfrm>
            <a:off x="3511296" y="2514600"/>
            <a:ext cx="1325880" cy="320040"/>
          </a:xfrm>
          <a:prstGeom prst="rect">
            <a:avLst/>
          </a:prstGeom>
          <a:noFill/>
          <a:ln/>
        </p:spPr>
        <p:txBody>
          <a:bodyPr wrap="square" rtlCol="0" anchor="ctr"/>
          <a:lstStyle/>
          <a:p>
            <a:pPr algn="ctr" indent="0" marL="0">
              <a:buNone/>
            </a:pPr>
            <a:r>
              <a:rPr lang="en-US" sz="1100" b="1" spc="100" kern="0" dirty="0">
                <a:solidFill>
                  <a:srgbClr val="9AA6BE"/>
                </a:solidFill>
                <a:latin typeface="Calibri" pitchFamily="34" charset="0"/>
                <a:ea typeface="Calibri" pitchFamily="34" charset="-122"/>
                <a:cs typeface="Calibri" pitchFamily="34" charset="-120"/>
              </a:rPr>
              <a:t>MEDIUM</a:t>
            </a:r>
            <a:endParaRPr lang="en-US" sz="1100" dirty="0"/>
          </a:p>
        </p:txBody>
      </p:sp>
      <p:sp>
        <p:nvSpPr>
          <p:cNvPr id="13" name="Shape 11"/>
          <p:cNvSpPr/>
          <p:nvPr/>
        </p:nvSpPr>
        <p:spPr>
          <a:xfrm>
            <a:off x="4992624" y="1600200"/>
            <a:ext cx="1325880" cy="1371600"/>
          </a:xfrm>
          <a:prstGeom prst="roundRect">
            <a:avLst>
              <a:gd name="adj" fmla="val 6897"/>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14" name="Text 12"/>
          <p:cNvSpPr/>
          <p:nvPr/>
        </p:nvSpPr>
        <p:spPr>
          <a:xfrm>
            <a:off x="4992624" y="1691640"/>
            <a:ext cx="1325880" cy="777240"/>
          </a:xfrm>
          <a:prstGeom prst="rect">
            <a:avLst/>
          </a:prstGeom>
          <a:noFill/>
          <a:ln/>
        </p:spPr>
        <p:txBody>
          <a:bodyPr wrap="square" lIns="0" tIns="0" rIns="0" bIns="0" rtlCol="0" anchor="ctr"/>
          <a:lstStyle/>
          <a:p>
            <a:pPr algn="ctr" indent="0" marL="0">
              <a:buNone/>
            </a:pPr>
            <a:r>
              <a:rPr lang="en-US" sz="4400" b="1" dirty="0">
                <a:solidFill>
                  <a:srgbClr val="3FB27F"/>
                </a:solidFill>
                <a:latin typeface="Cambria" pitchFamily="34" charset="0"/>
                <a:ea typeface="Cambria" pitchFamily="34" charset="-122"/>
                <a:cs typeface="Cambria" pitchFamily="34" charset="-120"/>
              </a:rPr>
              <a:t>4</a:t>
            </a:r>
            <a:endParaRPr lang="en-US" sz="4400" dirty="0"/>
          </a:p>
        </p:txBody>
      </p:sp>
      <p:sp>
        <p:nvSpPr>
          <p:cNvPr id="15" name="Text 13"/>
          <p:cNvSpPr/>
          <p:nvPr/>
        </p:nvSpPr>
        <p:spPr>
          <a:xfrm>
            <a:off x="4992624" y="2514600"/>
            <a:ext cx="1325880" cy="320040"/>
          </a:xfrm>
          <a:prstGeom prst="rect">
            <a:avLst/>
          </a:prstGeom>
          <a:noFill/>
          <a:ln/>
        </p:spPr>
        <p:txBody>
          <a:bodyPr wrap="square" rtlCol="0" anchor="ctr"/>
          <a:lstStyle/>
          <a:p>
            <a:pPr algn="ctr" indent="0" marL="0">
              <a:buNone/>
            </a:pPr>
            <a:r>
              <a:rPr lang="en-US" sz="1100" b="1" spc="100" kern="0" dirty="0">
                <a:solidFill>
                  <a:srgbClr val="9AA6BE"/>
                </a:solidFill>
                <a:latin typeface="Calibri" pitchFamily="34" charset="0"/>
                <a:ea typeface="Calibri" pitchFamily="34" charset="-122"/>
                <a:cs typeface="Calibri" pitchFamily="34" charset="-120"/>
              </a:rPr>
              <a:t>LOW</a:t>
            </a:r>
            <a:endParaRPr lang="en-US" sz="1100" dirty="0"/>
          </a:p>
        </p:txBody>
      </p:sp>
      <p:graphicFrame>
        <p:nvGraphicFramePr>
          <p:cNvPr id="16" name="Chart 0" descr=""/>
          <p:cNvGraphicFramePr/>
          <p:nvPr/>
        </p:nvGraphicFramePr>
        <p:xfrm>
          <a:off x="548640" y="3200400"/>
          <a:ext cx="5486400" cy="3108960"/>
        </p:xfrm>
        <a:graphic xmlns:a="http://schemas.openxmlformats.org/drawingml/2006/main">
          <a:graphicData uri="http://schemas.openxmlformats.org/drawingml/2006/chart">
            <c:chart xmlns:c="http://schemas.openxmlformats.org/drawingml/2006/chart" r:id="rId1"/>
          </a:graphicData>
        </a:graphic>
      </p:graphicFrame>
      <p:sp>
        <p:nvSpPr>
          <p:cNvPr id="17" name="Shape 14"/>
          <p:cNvSpPr/>
          <p:nvPr/>
        </p:nvSpPr>
        <p:spPr>
          <a:xfrm>
            <a:off x="6355080" y="3200400"/>
            <a:ext cx="5285232" cy="3108960"/>
          </a:xfrm>
          <a:prstGeom prst="roundRect">
            <a:avLst>
              <a:gd name="adj" fmla="val 2941"/>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18" name="Text 15"/>
          <p:cNvSpPr/>
          <p:nvPr/>
        </p:nvSpPr>
        <p:spPr>
          <a:xfrm>
            <a:off x="6583680" y="3337560"/>
            <a:ext cx="4846320" cy="365760"/>
          </a:xfrm>
          <a:prstGeom prst="rect">
            <a:avLst/>
          </a:prstGeom>
          <a:noFill/>
          <a:ln/>
        </p:spPr>
        <p:txBody>
          <a:bodyPr wrap="square" rtlCol="0" anchor="ctr"/>
          <a:lstStyle/>
          <a:p>
            <a:pPr indent="0" marL="0">
              <a:buNone/>
            </a:pPr>
            <a:r>
              <a:rPr lang="en-US" sz="1700" b="1" dirty="0">
                <a:solidFill>
                  <a:srgbClr val="EAF0FB"/>
                </a:solidFill>
                <a:latin typeface="Cambria" pitchFamily="34" charset="0"/>
                <a:ea typeface="Cambria" pitchFamily="34" charset="-122"/>
                <a:cs typeface="Cambria" pitchFamily="34" charset="-120"/>
              </a:rPr>
              <a:t>The four Critical findings</a:t>
            </a:r>
            <a:endParaRPr lang="en-US" sz="1700" dirty="0"/>
          </a:p>
        </p:txBody>
      </p:sp>
      <p:sp>
        <p:nvSpPr>
          <p:cNvPr id="19" name="Shape 16"/>
          <p:cNvSpPr/>
          <p:nvPr/>
        </p:nvSpPr>
        <p:spPr>
          <a:xfrm>
            <a:off x="6583680" y="3794760"/>
            <a:ext cx="566928" cy="438912"/>
          </a:xfrm>
          <a:prstGeom prst="roundRect">
            <a:avLst>
              <a:gd name="adj" fmla="val 16667"/>
            </a:avLst>
          </a:prstGeom>
          <a:solidFill>
            <a:srgbClr val="E23A4E"/>
          </a:solidFill>
          <a:ln/>
        </p:spPr>
      </p:sp>
      <p:sp>
        <p:nvSpPr>
          <p:cNvPr id="20" name="Text 17"/>
          <p:cNvSpPr/>
          <p:nvPr/>
        </p:nvSpPr>
        <p:spPr>
          <a:xfrm>
            <a:off x="6583680" y="3794760"/>
            <a:ext cx="566928"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C-1</a:t>
            </a:r>
            <a:endParaRPr lang="en-US" sz="1300" dirty="0"/>
          </a:p>
        </p:txBody>
      </p:sp>
      <p:sp>
        <p:nvSpPr>
          <p:cNvPr id="21" name="Text 18"/>
          <p:cNvSpPr/>
          <p:nvPr/>
        </p:nvSpPr>
        <p:spPr>
          <a:xfrm>
            <a:off x="7269480" y="3767328"/>
            <a:ext cx="4206240" cy="493776"/>
          </a:xfrm>
          <a:prstGeom prst="rect">
            <a:avLst/>
          </a:prstGeom>
          <a:noFill/>
          <a:ln/>
        </p:spPr>
        <p:txBody>
          <a:bodyPr wrap="square" lIns="0" tIns="0" rIns="0" bIns="0" rtlCol="0" anchor="ctr"/>
          <a:lstStyle/>
          <a:p>
            <a:pPr indent="0" marL="0">
              <a:buNone/>
            </a:pPr>
            <a:r>
              <a:rPr lang="en-US" sz="1250" dirty="0">
                <a:solidFill>
                  <a:srgbClr val="EAF0FB"/>
                </a:solidFill>
                <a:latin typeface="Calibri" pitchFamily="34" charset="0"/>
                <a:ea typeface="Calibri" pitchFamily="34" charset="-122"/>
                <a:cs typeface="Calibri" pitchFamily="34" charset="-120"/>
              </a:rPr>
              <a:t>Backend API has no authentication or authorization</a:t>
            </a:r>
            <a:endParaRPr lang="en-US" sz="1250" dirty="0"/>
          </a:p>
        </p:txBody>
      </p:sp>
      <p:sp>
        <p:nvSpPr>
          <p:cNvPr id="22" name="Shape 19"/>
          <p:cNvSpPr/>
          <p:nvPr/>
        </p:nvSpPr>
        <p:spPr>
          <a:xfrm>
            <a:off x="6583680" y="4398264"/>
            <a:ext cx="566928" cy="438912"/>
          </a:xfrm>
          <a:prstGeom prst="roundRect">
            <a:avLst>
              <a:gd name="adj" fmla="val 16667"/>
            </a:avLst>
          </a:prstGeom>
          <a:solidFill>
            <a:srgbClr val="E23A4E"/>
          </a:solidFill>
          <a:ln/>
        </p:spPr>
      </p:sp>
      <p:sp>
        <p:nvSpPr>
          <p:cNvPr id="23" name="Text 20"/>
          <p:cNvSpPr/>
          <p:nvPr/>
        </p:nvSpPr>
        <p:spPr>
          <a:xfrm>
            <a:off x="6583680" y="4398264"/>
            <a:ext cx="566928"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C-2</a:t>
            </a:r>
            <a:endParaRPr lang="en-US" sz="1300" dirty="0"/>
          </a:p>
        </p:txBody>
      </p:sp>
      <p:sp>
        <p:nvSpPr>
          <p:cNvPr id="24" name="Text 21"/>
          <p:cNvSpPr/>
          <p:nvPr/>
        </p:nvSpPr>
        <p:spPr>
          <a:xfrm>
            <a:off x="7269480" y="4370832"/>
            <a:ext cx="4206240" cy="493776"/>
          </a:xfrm>
          <a:prstGeom prst="rect">
            <a:avLst/>
          </a:prstGeom>
          <a:noFill/>
          <a:ln/>
        </p:spPr>
        <p:txBody>
          <a:bodyPr wrap="square" lIns="0" tIns="0" rIns="0" bIns="0" rtlCol="0" anchor="ctr"/>
          <a:lstStyle/>
          <a:p>
            <a:pPr indent="0" marL="0">
              <a:buNone/>
            </a:pPr>
            <a:r>
              <a:rPr lang="en-US" sz="1250" dirty="0">
                <a:solidFill>
                  <a:srgbClr val="EAF0FB"/>
                </a:solidFill>
                <a:latin typeface="Calibri" pitchFamily="34" charset="0"/>
                <a:ea typeface="Calibri" pitchFamily="34" charset="-122"/>
                <a:cs typeface="Calibri" pitchFamily="34" charset="-120"/>
              </a:rPr>
              <a:t>Authentication is client-side only and cosmetic</a:t>
            </a:r>
            <a:endParaRPr lang="en-US" sz="1250" dirty="0"/>
          </a:p>
        </p:txBody>
      </p:sp>
      <p:sp>
        <p:nvSpPr>
          <p:cNvPr id="25" name="Shape 22"/>
          <p:cNvSpPr/>
          <p:nvPr/>
        </p:nvSpPr>
        <p:spPr>
          <a:xfrm>
            <a:off x="6583680" y="5001768"/>
            <a:ext cx="566928" cy="438912"/>
          </a:xfrm>
          <a:prstGeom prst="roundRect">
            <a:avLst>
              <a:gd name="adj" fmla="val 16667"/>
            </a:avLst>
          </a:prstGeom>
          <a:solidFill>
            <a:srgbClr val="E23A4E"/>
          </a:solidFill>
          <a:ln/>
        </p:spPr>
      </p:sp>
      <p:sp>
        <p:nvSpPr>
          <p:cNvPr id="26" name="Text 23"/>
          <p:cNvSpPr/>
          <p:nvPr/>
        </p:nvSpPr>
        <p:spPr>
          <a:xfrm>
            <a:off x="6583680" y="5001768"/>
            <a:ext cx="566928"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C-3</a:t>
            </a:r>
            <a:endParaRPr lang="en-US" sz="1300" dirty="0"/>
          </a:p>
        </p:txBody>
      </p:sp>
      <p:sp>
        <p:nvSpPr>
          <p:cNvPr id="27" name="Text 24"/>
          <p:cNvSpPr/>
          <p:nvPr/>
        </p:nvSpPr>
        <p:spPr>
          <a:xfrm>
            <a:off x="7269480" y="4974336"/>
            <a:ext cx="4206240" cy="493776"/>
          </a:xfrm>
          <a:prstGeom prst="rect">
            <a:avLst/>
          </a:prstGeom>
          <a:noFill/>
          <a:ln/>
        </p:spPr>
        <p:txBody>
          <a:bodyPr wrap="square" lIns="0" tIns="0" rIns="0" bIns="0" rtlCol="0" anchor="ctr"/>
          <a:lstStyle/>
          <a:p>
            <a:pPr indent="0" marL="0">
              <a:buNone/>
            </a:pPr>
            <a:r>
              <a:rPr lang="en-US" sz="1250" dirty="0">
                <a:solidFill>
                  <a:srgbClr val="EAF0FB"/>
                </a:solidFill>
                <a:latin typeface="Calibri" pitchFamily="34" charset="0"/>
                <a:ea typeface="Calibri" pitchFamily="34" charset="-122"/>
                <a:cs typeface="Calibri" pitchFamily="34" charset="-120"/>
              </a:rPr>
              <a:t>Role/RBAC enforced only in the UI — approvals forgeable</a:t>
            </a:r>
            <a:endParaRPr lang="en-US" sz="1250" dirty="0"/>
          </a:p>
        </p:txBody>
      </p:sp>
      <p:sp>
        <p:nvSpPr>
          <p:cNvPr id="28" name="Shape 25"/>
          <p:cNvSpPr/>
          <p:nvPr/>
        </p:nvSpPr>
        <p:spPr>
          <a:xfrm>
            <a:off x="6583680" y="5605272"/>
            <a:ext cx="566928" cy="438912"/>
          </a:xfrm>
          <a:prstGeom prst="roundRect">
            <a:avLst>
              <a:gd name="adj" fmla="val 16667"/>
            </a:avLst>
          </a:prstGeom>
          <a:solidFill>
            <a:srgbClr val="E23A4E"/>
          </a:solidFill>
          <a:ln/>
        </p:spPr>
      </p:sp>
      <p:sp>
        <p:nvSpPr>
          <p:cNvPr id="29" name="Text 26"/>
          <p:cNvSpPr/>
          <p:nvPr/>
        </p:nvSpPr>
        <p:spPr>
          <a:xfrm>
            <a:off x="6583680" y="5605272"/>
            <a:ext cx="566928"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C-4</a:t>
            </a:r>
            <a:endParaRPr lang="en-US" sz="1300" dirty="0"/>
          </a:p>
        </p:txBody>
      </p:sp>
      <p:sp>
        <p:nvSpPr>
          <p:cNvPr id="30" name="Text 27"/>
          <p:cNvSpPr/>
          <p:nvPr/>
        </p:nvSpPr>
        <p:spPr>
          <a:xfrm>
            <a:off x="7269480" y="5577840"/>
            <a:ext cx="4206240" cy="493776"/>
          </a:xfrm>
          <a:prstGeom prst="rect">
            <a:avLst/>
          </a:prstGeom>
          <a:noFill/>
          <a:ln/>
        </p:spPr>
        <p:txBody>
          <a:bodyPr wrap="square" lIns="0" tIns="0" rIns="0" bIns="0" rtlCol="0" anchor="ctr"/>
          <a:lstStyle/>
          <a:p>
            <a:pPr indent="0" marL="0">
              <a:buNone/>
            </a:pPr>
            <a:r>
              <a:rPr lang="en-US" sz="1250" dirty="0">
                <a:solidFill>
                  <a:srgbClr val="EAF0FB"/>
                </a:solidFill>
                <a:latin typeface="Calibri" pitchFamily="34" charset="0"/>
                <a:ea typeface="Calibri" pitchFamily="34" charset="-122"/>
                <a:cs typeface="Calibri" pitchFamily="34" charset="-120"/>
              </a:rPr>
              <a:t>Audit trail is forgeable — client-computed hash chain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524"/>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300" kern="0" dirty="0">
                <a:solidFill>
                  <a:srgbClr val="39C0C8"/>
                </a:solidFill>
                <a:latin typeface="Calibri" pitchFamily="34" charset="0"/>
                <a:ea typeface="Calibri" pitchFamily="34" charset="-122"/>
                <a:cs typeface="Calibri" pitchFamily="34" charset="-120"/>
              </a:rPr>
              <a:t>SECTION 04 · EXPOSURE</a:t>
            </a:r>
            <a:endParaRPr lang="en-US" sz="1200" dirty="0"/>
          </a:p>
        </p:txBody>
      </p:sp>
      <p:sp>
        <p:nvSpPr>
          <p:cNvPr id="3" name="Text 1"/>
          <p:cNvSpPr/>
          <p:nvPr/>
        </p:nvSpPr>
        <p:spPr>
          <a:xfrm>
            <a:off x="530352" y="658368"/>
            <a:ext cx="11155680" cy="640080"/>
          </a:xfrm>
          <a:prstGeom prst="rect">
            <a:avLst/>
          </a:prstGeom>
          <a:noFill/>
          <a:ln/>
        </p:spPr>
        <p:txBody>
          <a:bodyPr wrap="square" rtlCol="0" anchor="ctr"/>
          <a:lstStyle/>
          <a:p>
            <a:pPr indent="0" marL="0">
              <a:buNone/>
            </a:pPr>
            <a:r>
              <a:rPr lang="en-US" sz="3000" b="1" dirty="0">
                <a:solidFill>
                  <a:srgbClr val="EAF0FB"/>
                </a:solidFill>
                <a:latin typeface="Cambria" pitchFamily="34" charset="0"/>
                <a:ea typeface="Cambria" pitchFamily="34" charset="-122"/>
                <a:cs typeface="Cambria" pitchFamily="34" charset="-120"/>
              </a:rPr>
              <a:t>What is at risk</a:t>
            </a:r>
            <a:endParaRPr lang="en-US" sz="3000" dirty="0"/>
          </a:p>
        </p:txBody>
      </p:sp>
      <p:sp>
        <p:nvSpPr>
          <p:cNvPr id="4" name="Text 2"/>
          <p:cNvSpPr/>
          <p:nvPr/>
        </p:nvSpPr>
        <p:spPr>
          <a:xfrm>
            <a:off x="548640" y="1371600"/>
            <a:ext cx="10972800" cy="320040"/>
          </a:xfrm>
          <a:prstGeom prst="rect">
            <a:avLst/>
          </a:prstGeom>
          <a:noFill/>
          <a:ln/>
        </p:spPr>
        <p:txBody>
          <a:bodyPr wrap="square" rtlCol="0" anchor="ctr"/>
          <a:lstStyle/>
          <a:p>
            <a:pPr indent="0" marL="0">
              <a:buNone/>
            </a:pPr>
            <a:r>
              <a:rPr lang="en-US" sz="1300" i="1" dirty="0">
                <a:solidFill>
                  <a:srgbClr val="9AA6BE"/>
                </a:solidFill>
                <a:latin typeface="Calibri" pitchFamily="34" charset="0"/>
                <a:ea typeface="Calibri" pitchFamily="34" charset="-122"/>
                <a:cs typeface="Calibri" pitchFamily="34" charset="-120"/>
              </a:rPr>
              <a:t>Every field below is returned in full, unmasked, to any unauthenticated caller of the API.</a:t>
            </a:r>
            <a:endParaRPr lang="en-US" sz="1300" dirty="0"/>
          </a:p>
        </p:txBody>
      </p:sp>
      <p:sp>
        <p:nvSpPr>
          <p:cNvPr id="5" name="Shape 3"/>
          <p:cNvSpPr/>
          <p:nvPr/>
        </p:nvSpPr>
        <p:spPr>
          <a:xfrm>
            <a:off x="548640" y="1828800"/>
            <a:ext cx="5394960" cy="1207008"/>
          </a:xfrm>
          <a:prstGeom prst="roundRect">
            <a:avLst>
              <a:gd name="adj" fmla="val 7576"/>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6" name="Shape 4"/>
          <p:cNvSpPr/>
          <p:nvPr/>
        </p:nvSpPr>
        <p:spPr>
          <a:xfrm>
            <a:off x="749808" y="2048256"/>
            <a:ext cx="146304" cy="768096"/>
          </a:xfrm>
          <a:prstGeom prst="roundRect">
            <a:avLst>
              <a:gd name="adj" fmla="val 50000"/>
            </a:avLst>
          </a:prstGeom>
          <a:solidFill>
            <a:srgbClr val="E23A4E"/>
          </a:solidFill>
          <a:ln/>
        </p:spPr>
      </p:sp>
      <p:sp>
        <p:nvSpPr>
          <p:cNvPr id="7" name="Text 5"/>
          <p:cNvSpPr/>
          <p:nvPr/>
        </p:nvSpPr>
        <p:spPr>
          <a:xfrm>
            <a:off x="1051560" y="2011680"/>
            <a:ext cx="4663440" cy="365760"/>
          </a:xfrm>
          <a:prstGeom prst="rect">
            <a:avLst/>
          </a:prstGeom>
          <a:noFill/>
          <a:ln/>
        </p:spPr>
        <p:txBody>
          <a:bodyPr wrap="square" lIns="0" tIns="0" rIns="0" bIns="0" rtlCol="0" anchor="ctr"/>
          <a:lstStyle/>
          <a:p>
            <a:pPr indent="0" marL="0">
              <a:buNone/>
            </a:pPr>
            <a:r>
              <a:rPr lang="en-US" sz="1600" b="1" dirty="0">
                <a:solidFill>
                  <a:srgbClr val="EAF0FB"/>
                </a:solidFill>
                <a:latin typeface="Cambria" pitchFamily="34" charset="0"/>
                <a:ea typeface="Cambria" pitchFamily="34" charset="-122"/>
                <a:cs typeface="Cambria" pitchFamily="34" charset="-120"/>
              </a:rPr>
              <a:t>Identity PII</a:t>
            </a:r>
            <a:endParaRPr lang="en-US" sz="1600" dirty="0"/>
          </a:p>
        </p:txBody>
      </p:sp>
      <p:sp>
        <p:nvSpPr>
          <p:cNvPr id="8" name="Text 6"/>
          <p:cNvSpPr/>
          <p:nvPr/>
        </p:nvSpPr>
        <p:spPr>
          <a:xfrm>
            <a:off x="1051560" y="2395728"/>
            <a:ext cx="4709160" cy="566928"/>
          </a:xfrm>
          <a:prstGeom prst="rect">
            <a:avLst/>
          </a:prstGeom>
          <a:noFill/>
          <a:ln/>
        </p:spPr>
        <p:txBody>
          <a:bodyPr wrap="square" lIns="0" tIns="0" rIns="0" bIns="0" rtlCol="0" anchor="t"/>
          <a:lstStyle/>
          <a:p>
            <a:pPr indent="0" marL="0">
              <a:buNone/>
            </a:pPr>
            <a:r>
              <a:rPr lang="en-US" sz="1250" dirty="0">
                <a:solidFill>
                  <a:srgbClr val="9AA6BE"/>
                </a:solidFill>
                <a:latin typeface="Calibri" pitchFamily="34" charset="0"/>
                <a:ea typeface="Calibri" pitchFamily="34" charset="-122"/>
                <a:cs typeface="Calibri" pitchFamily="34" charset="-120"/>
              </a:rPr>
              <a:t>Full name · date of birth · national ID · NIS number · passport · driver’s permit · BIR</a:t>
            </a:r>
            <a:endParaRPr lang="en-US" sz="1250" dirty="0"/>
          </a:p>
        </p:txBody>
      </p:sp>
      <p:sp>
        <p:nvSpPr>
          <p:cNvPr id="9" name="Shape 7"/>
          <p:cNvSpPr/>
          <p:nvPr/>
        </p:nvSpPr>
        <p:spPr>
          <a:xfrm>
            <a:off x="6153912" y="1828800"/>
            <a:ext cx="5394960" cy="1207008"/>
          </a:xfrm>
          <a:prstGeom prst="roundRect">
            <a:avLst>
              <a:gd name="adj" fmla="val 7576"/>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10" name="Shape 8"/>
          <p:cNvSpPr/>
          <p:nvPr/>
        </p:nvSpPr>
        <p:spPr>
          <a:xfrm>
            <a:off x="6355080" y="2048256"/>
            <a:ext cx="146304" cy="768096"/>
          </a:xfrm>
          <a:prstGeom prst="roundRect">
            <a:avLst>
              <a:gd name="adj" fmla="val 50000"/>
            </a:avLst>
          </a:prstGeom>
          <a:solidFill>
            <a:srgbClr val="E8912B"/>
          </a:solidFill>
          <a:ln/>
        </p:spPr>
      </p:sp>
      <p:sp>
        <p:nvSpPr>
          <p:cNvPr id="11" name="Text 9"/>
          <p:cNvSpPr/>
          <p:nvPr/>
        </p:nvSpPr>
        <p:spPr>
          <a:xfrm>
            <a:off x="6656832" y="2011680"/>
            <a:ext cx="4663440" cy="365760"/>
          </a:xfrm>
          <a:prstGeom prst="rect">
            <a:avLst/>
          </a:prstGeom>
          <a:noFill/>
          <a:ln/>
        </p:spPr>
        <p:txBody>
          <a:bodyPr wrap="square" lIns="0" tIns="0" rIns="0" bIns="0" rtlCol="0" anchor="ctr"/>
          <a:lstStyle/>
          <a:p>
            <a:pPr indent="0" marL="0">
              <a:buNone/>
            </a:pPr>
            <a:r>
              <a:rPr lang="en-US" sz="1600" b="1" dirty="0">
                <a:solidFill>
                  <a:srgbClr val="EAF0FB"/>
                </a:solidFill>
                <a:latin typeface="Cambria" pitchFamily="34" charset="0"/>
                <a:ea typeface="Cambria" pitchFamily="34" charset="-122"/>
                <a:cs typeface="Cambria" pitchFamily="34" charset="-120"/>
              </a:rPr>
              <a:t>Contact &amp; location</a:t>
            </a:r>
            <a:endParaRPr lang="en-US" sz="1600" dirty="0"/>
          </a:p>
        </p:txBody>
      </p:sp>
      <p:sp>
        <p:nvSpPr>
          <p:cNvPr id="12" name="Text 10"/>
          <p:cNvSpPr/>
          <p:nvPr/>
        </p:nvSpPr>
        <p:spPr>
          <a:xfrm>
            <a:off x="6656832" y="2395728"/>
            <a:ext cx="4709160" cy="566928"/>
          </a:xfrm>
          <a:prstGeom prst="rect">
            <a:avLst/>
          </a:prstGeom>
          <a:noFill/>
          <a:ln/>
        </p:spPr>
        <p:txBody>
          <a:bodyPr wrap="square" lIns="0" tIns="0" rIns="0" bIns="0" rtlCol="0" anchor="t"/>
          <a:lstStyle/>
          <a:p>
            <a:pPr indent="0" marL="0">
              <a:buNone/>
            </a:pPr>
            <a:r>
              <a:rPr lang="en-US" sz="1250" dirty="0">
                <a:solidFill>
                  <a:srgbClr val="9AA6BE"/>
                </a:solidFill>
                <a:latin typeface="Calibri" pitchFamily="34" charset="0"/>
                <a:ea typeface="Calibri" pitchFamily="34" charset="-122"/>
                <a:cs typeface="Calibri" pitchFamily="34" charset="-120"/>
              </a:rPr>
              <a:t>Home address · phone / contact details</a:t>
            </a:r>
            <a:endParaRPr lang="en-US" sz="1250" dirty="0"/>
          </a:p>
        </p:txBody>
      </p:sp>
      <p:sp>
        <p:nvSpPr>
          <p:cNvPr id="13" name="Shape 11"/>
          <p:cNvSpPr/>
          <p:nvPr/>
        </p:nvSpPr>
        <p:spPr>
          <a:xfrm>
            <a:off x="548640" y="3200400"/>
            <a:ext cx="5394960" cy="1207008"/>
          </a:xfrm>
          <a:prstGeom prst="roundRect">
            <a:avLst>
              <a:gd name="adj" fmla="val 7576"/>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14" name="Shape 12"/>
          <p:cNvSpPr/>
          <p:nvPr/>
        </p:nvSpPr>
        <p:spPr>
          <a:xfrm>
            <a:off x="749808" y="3419856"/>
            <a:ext cx="146304" cy="768096"/>
          </a:xfrm>
          <a:prstGeom prst="roundRect">
            <a:avLst>
              <a:gd name="adj" fmla="val 50000"/>
            </a:avLst>
          </a:prstGeom>
          <a:solidFill>
            <a:srgbClr val="E23A4E"/>
          </a:solidFill>
          <a:ln/>
        </p:spPr>
      </p:sp>
      <p:sp>
        <p:nvSpPr>
          <p:cNvPr id="15" name="Text 13"/>
          <p:cNvSpPr/>
          <p:nvPr/>
        </p:nvSpPr>
        <p:spPr>
          <a:xfrm>
            <a:off x="1051560" y="3383280"/>
            <a:ext cx="4663440" cy="365760"/>
          </a:xfrm>
          <a:prstGeom prst="rect">
            <a:avLst/>
          </a:prstGeom>
          <a:noFill/>
          <a:ln/>
        </p:spPr>
        <p:txBody>
          <a:bodyPr wrap="square" lIns="0" tIns="0" rIns="0" bIns="0" rtlCol="0" anchor="ctr"/>
          <a:lstStyle/>
          <a:p>
            <a:pPr indent="0" marL="0">
              <a:buNone/>
            </a:pPr>
            <a:r>
              <a:rPr lang="en-US" sz="1600" b="1" dirty="0">
                <a:solidFill>
                  <a:srgbClr val="EAF0FB"/>
                </a:solidFill>
                <a:latin typeface="Cambria" pitchFamily="34" charset="0"/>
                <a:ea typeface="Cambria" pitchFamily="34" charset="-122"/>
                <a:cs typeface="Cambria" pitchFamily="34" charset="-120"/>
              </a:rPr>
              <a:t>Banking data</a:t>
            </a:r>
            <a:endParaRPr lang="en-US" sz="1600" dirty="0"/>
          </a:p>
        </p:txBody>
      </p:sp>
      <p:sp>
        <p:nvSpPr>
          <p:cNvPr id="16" name="Text 14"/>
          <p:cNvSpPr/>
          <p:nvPr/>
        </p:nvSpPr>
        <p:spPr>
          <a:xfrm>
            <a:off x="1051560" y="3767328"/>
            <a:ext cx="4709160" cy="566928"/>
          </a:xfrm>
          <a:prstGeom prst="rect">
            <a:avLst/>
          </a:prstGeom>
          <a:noFill/>
          <a:ln/>
        </p:spPr>
        <p:txBody>
          <a:bodyPr wrap="square" lIns="0" tIns="0" rIns="0" bIns="0" rtlCol="0" anchor="t"/>
          <a:lstStyle/>
          <a:p>
            <a:pPr indent="0" marL="0">
              <a:buNone/>
            </a:pPr>
            <a:r>
              <a:rPr lang="en-US" sz="1250" dirty="0">
                <a:solidFill>
                  <a:srgbClr val="9AA6BE"/>
                </a:solidFill>
                <a:latin typeface="Calibri" pitchFamily="34" charset="0"/>
                <a:ea typeface="Calibri" pitchFamily="34" charset="-122"/>
                <a:cs typeface="Calibri" pitchFamily="34" charset="-120"/>
              </a:rPr>
              <a:t>Bank name · account number · branch — full, not masked</a:t>
            </a:r>
            <a:endParaRPr lang="en-US" sz="1250" dirty="0"/>
          </a:p>
        </p:txBody>
      </p:sp>
      <p:sp>
        <p:nvSpPr>
          <p:cNvPr id="17" name="Shape 15"/>
          <p:cNvSpPr/>
          <p:nvPr/>
        </p:nvSpPr>
        <p:spPr>
          <a:xfrm>
            <a:off x="6153912" y="3200400"/>
            <a:ext cx="5394960" cy="1207008"/>
          </a:xfrm>
          <a:prstGeom prst="roundRect">
            <a:avLst>
              <a:gd name="adj" fmla="val 7576"/>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18" name="Shape 16"/>
          <p:cNvSpPr/>
          <p:nvPr/>
        </p:nvSpPr>
        <p:spPr>
          <a:xfrm>
            <a:off x="6355080" y="3419856"/>
            <a:ext cx="146304" cy="768096"/>
          </a:xfrm>
          <a:prstGeom prst="roundRect">
            <a:avLst>
              <a:gd name="adj" fmla="val 50000"/>
            </a:avLst>
          </a:prstGeom>
          <a:solidFill>
            <a:srgbClr val="E8912B"/>
          </a:solidFill>
          <a:ln/>
        </p:spPr>
      </p:sp>
      <p:sp>
        <p:nvSpPr>
          <p:cNvPr id="19" name="Text 17"/>
          <p:cNvSpPr/>
          <p:nvPr/>
        </p:nvSpPr>
        <p:spPr>
          <a:xfrm>
            <a:off x="6656832" y="3383280"/>
            <a:ext cx="4663440" cy="365760"/>
          </a:xfrm>
          <a:prstGeom prst="rect">
            <a:avLst/>
          </a:prstGeom>
          <a:noFill/>
          <a:ln/>
        </p:spPr>
        <p:txBody>
          <a:bodyPr wrap="square" lIns="0" tIns="0" rIns="0" bIns="0" rtlCol="0" anchor="ctr"/>
          <a:lstStyle/>
          <a:p>
            <a:pPr indent="0" marL="0">
              <a:buNone/>
            </a:pPr>
            <a:r>
              <a:rPr lang="en-US" sz="1600" b="1" dirty="0">
                <a:solidFill>
                  <a:srgbClr val="EAF0FB"/>
                </a:solidFill>
                <a:latin typeface="Cambria" pitchFamily="34" charset="0"/>
                <a:ea typeface="Cambria" pitchFamily="34" charset="-122"/>
                <a:cs typeface="Cambria" pitchFamily="34" charset="-120"/>
              </a:rPr>
              <a:t>Compensation</a:t>
            </a:r>
            <a:endParaRPr lang="en-US" sz="1600" dirty="0"/>
          </a:p>
        </p:txBody>
      </p:sp>
      <p:sp>
        <p:nvSpPr>
          <p:cNvPr id="20" name="Text 18"/>
          <p:cNvSpPr/>
          <p:nvPr/>
        </p:nvSpPr>
        <p:spPr>
          <a:xfrm>
            <a:off x="6656832" y="3767328"/>
            <a:ext cx="4709160" cy="566928"/>
          </a:xfrm>
          <a:prstGeom prst="rect">
            <a:avLst/>
          </a:prstGeom>
          <a:noFill/>
          <a:ln/>
        </p:spPr>
        <p:txBody>
          <a:bodyPr wrap="square" lIns="0" tIns="0" rIns="0" bIns="0" rtlCol="0" anchor="t"/>
          <a:lstStyle/>
          <a:p>
            <a:pPr indent="0" marL="0">
              <a:buNone/>
            </a:pPr>
            <a:r>
              <a:rPr lang="en-US" sz="1250" dirty="0">
                <a:solidFill>
                  <a:srgbClr val="9AA6BE"/>
                </a:solidFill>
                <a:latin typeface="Calibri" pitchFamily="34" charset="0"/>
                <a:ea typeface="Calibri" pitchFamily="34" charset="-122"/>
                <a:cs typeface="Calibri" pitchFamily="34" charset="-120"/>
              </a:rPr>
              <a:t>Wage rate · COLA · allowances · back-pay calculations</a:t>
            </a:r>
            <a:endParaRPr lang="en-US" sz="1250" dirty="0"/>
          </a:p>
        </p:txBody>
      </p:sp>
      <p:sp>
        <p:nvSpPr>
          <p:cNvPr id="21" name="Shape 19"/>
          <p:cNvSpPr/>
          <p:nvPr/>
        </p:nvSpPr>
        <p:spPr>
          <a:xfrm>
            <a:off x="548640" y="4572000"/>
            <a:ext cx="5394960" cy="1207008"/>
          </a:xfrm>
          <a:prstGeom prst="roundRect">
            <a:avLst>
              <a:gd name="adj" fmla="val 7576"/>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22" name="Shape 20"/>
          <p:cNvSpPr/>
          <p:nvPr/>
        </p:nvSpPr>
        <p:spPr>
          <a:xfrm>
            <a:off x="749808" y="4791456"/>
            <a:ext cx="146304" cy="768096"/>
          </a:xfrm>
          <a:prstGeom prst="roundRect">
            <a:avLst>
              <a:gd name="adj" fmla="val 50000"/>
            </a:avLst>
          </a:prstGeom>
          <a:solidFill>
            <a:srgbClr val="E4C23B"/>
          </a:solidFill>
          <a:ln/>
        </p:spPr>
      </p:sp>
      <p:sp>
        <p:nvSpPr>
          <p:cNvPr id="23" name="Text 21"/>
          <p:cNvSpPr/>
          <p:nvPr/>
        </p:nvSpPr>
        <p:spPr>
          <a:xfrm>
            <a:off x="1051560" y="4754880"/>
            <a:ext cx="4663440" cy="365760"/>
          </a:xfrm>
          <a:prstGeom prst="rect">
            <a:avLst/>
          </a:prstGeom>
          <a:noFill/>
          <a:ln/>
        </p:spPr>
        <p:txBody>
          <a:bodyPr wrap="square" lIns="0" tIns="0" rIns="0" bIns="0" rtlCol="0" anchor="ctr"/>
          <a:lstStyle/>
          <a:p>
            <a:pPr indent="0" marL="0">
              <a:buNone/>
            </a:pPr>
            <a:r>
              <a:rPr lang="en-US" sz="1600" b="1" dirty="0">
                <a:solidFill>
                  <a:srgbClr val="EAF0FB"/>
                </a:solidFill>
                <a:latin typeface="Cambria" pitchFamily="34" charset="0"/>
                <a:ea typeface="Cambria" pitchFamily="34" charset="-122"/>
                <a:cs typeface="Cambria" pitchFamily="34" charset="-120"/>
              </a:rPr>
              <a:t>Workforce records</a:t>
            </a:r>
            <a:endParaRPr lang="en-US" sz="1600" dirty="0"/>
          </a:p>
        </p:txBody>
      </p:sp>
      <p:sp>
        <p:nvSpPr>
          <p:cNvPr id="24" name="Text 22"/>
          <p:cNvSpPr/>
          <p:nvPr/>
        </p:nvSpPr>
        <p:spPr>
          <a:xfrm>
            <a:off x="1051560" y="5138928"/>
            <a:ext cx="4709160" cy="566928"/>
          </a:xfrm>
          <a:prstGeom prst="rect">
            <a:avLst/>
          </a:prstGeom>
          <a:noFill/>
          <a:ln/>
        </p:spPr>
        <p:txBody>
          <a:bodyPr wrap="square" lIns="0" tIns="0" rIns="0" bIns="0" rtlCol="0" anchor="t"/>
          <a:lstStyle/>
          <a:p>
            <a:pPr indent="0" marL="0">
              <a:buNone/>
            </a:pPr>
            <a:r>
              <a:rPr lang="en-US" sz="1250" dirty="0">
                <a:solidFill>
                  <a:srgbClr val="9AA6BE"/>
                </a:solidFill>
                <a:latin typeface="Calibri" pitchFamily="34" charset="0"/>
                <a:ea typeface="Calibri" pitchFamily="34" charset="-122"/>
                <a:cs typeface="Calibri" pitchFamily="34" charset="-120"/>
              </a:rPr>
              <a:t>Timesheets · rosters · approval history · replacements</a:t>
            </a:r>
            <a:endParaRPr lang="en-US" sz="1250" dirty="0"/>
          </a:p>
        </p:txBody>
      </p:sp>
      <p:sp>
        <p:nvSpPr>
          <p:cNvPr id="25" name="Shape 23"/>
          <p:cNvSpPr/>
          <p:nvPr/>
        </p:nvSpPr>
        <p:spPr>
          <a:xfrm>
            <a:off x="6153912" y="4572000"/>
            <a:ext cx="5394960" cy="1207008"/>
          </a:xfrm>
          <a:prstGeom prst="roundRect">
            <a:avLst>
              <a:gd name="adj" fmla="val 7576"/>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26" name="Shape 24"/>
          <p:cNvSpPr/>
          <p:nvPr/>
        </p:nvSpPr>
        <p:spPr>
          <a:xfrm>
            <a:off x="6355080" y="4791456"/>
            <a:ext cx="146304" cy="768096"/>
          </a:xfrm>
          <a:prstGeom prst="roundRect">
            <a:avLst>
              <a:gd name="adj" fmla="val 50000"/>
            </a:avLst>
          </a:prstGeom>
          <a:solidFill>
            <a:srgbClr val="E23A4E"/>
          </a:solidFill>
          <a:ln/>
        </p:spPr>
      </p:sp>
      <p:sp>
        <p:nvSpPr>
          <p:cNvPr id="27" name="Text 25"/>
          <p:cNvSpPr/>
          <p:nvPr/>
        </p:nvSpPr>
        <p:spPr>
          <a:xfrm>
            <a:off x="6656832" y="4754880"/>
            <a:ext cx="4663440" cy="365760"/>
          </a:xfrm>
          <a:prstGeom prst="rect">
            <a:avLst/>
          </a:prstGeom>
          <a:noFill/>
          <a:ln/>
        </p:spPr>
        <p:txBody>
          <a:bodyPr wrap="square" lIns="0" tIns="0" rIns="0" bIns="0" rtlCol="0" anchor="ctr"/>
          <a:lstStyle/>
          <a:p>
            <a:pPr indent="0" marL="0">
              <a:buNone/>
            </a:pPr>
            <a:r>
              <a:rPr lang="en-US" sz="1600" b="1" dirty="0">
                <a:solidFill>
                  <a:srgbClr val="EAF0FB"/>
                </a:solidFill>
                <a:latin typeface="Cambria" pitchFamily="34" charset="0"/>
                <a:ea typeface="Cambria" pitchFamily="34" charset="-122"/>
                <a:cs typeface="Cambria" pitchFamily="34" charset="-120"/>
              </a:rPr>
              <a:t>Audit / compliance</a:t>
            </a:r>
            <a:endParaRPr lang="en-US" sz="1600" dirty="0"/>
          </a:p>
        </p:txBody>
      </p:sp>
      <p:sp>
        <p:nvSpPr>
          <p:cNvPr id="28" name="Text 26"/>
          <p:cNvSpPr/>
          <p:nvPr/>
        </p:nvSpPr>
        <p:spPr>
          <a:xfrm>
            <a:off x="6656832" y="5138928"/>
            <a:ext cx="4709160" cy="566928"/>
          </a:xfrm>
          <a:prstGeom prst="rect">
            <a:avLst/>
          </a:prstGeom>
          <a:noFill/>
          <a:ln/>
        </p:spPr>
        <p:txBody>
          <a:bodyPr wrap="square" lIns="0" tIns="0" rIns="0" bIns="0" rtlCol="0" anchor="t"/>
          <a:lstStyle/>
          <a:p>
            <a:pPr indent="0" marL="0">
              <a:buNone/>
            </a:pPr>
            <a:r>
              <a:rPr lang="en-US" sz="1250" dirty="0">
                <a:solidFill>
                  <a:srgbClr val="9AA6BE"/>
                </a:solidFill>
                <a:latin typeface="Calibri" pitchFamily="34" charset="0"/>
                <a:ea typeface="Calibri" pitchFamily="34" charset="-122"/>
                <a:cs typeface="Calibri" pitchFamily="34" charset="-120"/>
              </a:rPr>
              <a:t>The tamper-evident log itself — forgeable end to end</a:t>
            </a:r>
            <a:endParaRPr lang="en-US" sz="1250" dirty="0"/>
          </a:p>
        </p:txBody>
      </p:sp>
      <p:sp>
        <p:nvSpPr>
          <p:cNvPr id="29" name="Text 27"/>
          <p:cNvSpPr/>
          <p:nvPr/>
        </p:nvSpPr>
        <p:spPr>
          <a:xfrm>
            <a:off x="548640" y="6172200"/>
            <a:ext cx="10972800" cy="320040"/>
          </a:xfrm>
          <a:prstGeom prst="rect">
            <a:avLst/>
          </a:prstGeom>
          <a:noFill/>
          <a:ln/>
        </p:spPr>
        <p:txBody>
          <a:bodyPr wrap="square" rtlCol="0" anchor="ctr"/>
          <a:lstStyle/>
          <a:p>
            <a:pPr indent="0" marL="0">
              <a:buNone/>
            </a:pPr>
            <a:r>
              <a:rPr lang="en-US" sz="1150" i="1" dirty="0">
                <a:solidFill>
                  <a:srgbClr val="6E7A93"/>
                </a:solidFill>
                <a:latin typeface="Calibri" pitchFamily="34" charset="0"/>
                <a:ea typeface="Calibri" pitchFamily="34" charset="-122"/>
                <a:cs typeface="Calibri" pitchFamily="34" charset="-120"/>
              </a:rPr>
              <a:t>Note: the in-app PII “masking” is cosmetic and display-only — it does not protect the data returned by the API.</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524"/>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300" kern="0" dirty="0">
                <a:solidFill>
                  <a:srgbClr val="39C0C8"/>
                </a:solidFill>
                <a:latin typeface="Calibri" pitchFamily="34" charset="0"/>
                <a:ea typeface="Calibri" pitchFamily="34" charset="-122"/>
                <a:cs typeface="Calibri" pitchFamily="34" charset="-120"/>
              </a:rPr>
              <a:t>SECTION 05 · MATURITY</a:t>
            </a:r>
            <a:endParaRPr lang="en-US" sz="1200" dirty="0"/>
          </a:p>
        </p:txBody>
      </p:sp>
      <p:sp>
        <p:nvSpPr>
          <p:cNvPr id="3" name="Text 1"/>
          <p:cNvSpPr/>
          <p:nvPr/>
        </p:nvSpPr>
        <p:spPr>
          <a:xfrm>
            <a:off x="530352" y="658368"/>
            <a:ext cx="11155680" cy="640080"/>
          </a:xfrm>
          <a:prstGeom prst="rect">
            <a:avLst/>
          </a:prstGeom>
          <a:noFill/>
          <a:ln/>
        </p:spPr>
        <p:txBody>
          <a:bodyPr wrap="square" rtlCol="0" anchor="ctr"/>
          <a:lstStyle/>
          <a:p>
            <a:pPr indent="0" marL="0">
              <a:buNone/>
            </a:pPr>
            <a:r>
              <a:rPr lang="en-US" sz="3000" b="1" dirty="0">
                <a:solidFill>
                  <a:srgbClr val="EAF0FB"/>
                </a:solidFill>
                <a:latin typeface="Cambria" pitchFamily="34" charset="0"/>
                <a:ea typeface="Cambria" pitchFamily="34" charset="-122"/>
                <a:cs typeface="Cambria" pitchFamily="34" charset="-120"/>
              </a:rPr>
              <a:t>What level of secure is it?</a:t>
            </a:r>
            <a:endParaRPr lang="en-US" sz="3000" dirty="0"/>
          </a:p>
        </p:txBody>
      </p:sp>
      <p:sp>
        <p:nvSpPr>
          <p:cNvPr id="4" name="Shape 2"/>
          <p:cNvSpPr/>
          <p:nvPr/>
        </p:nvSpPr>
        <p:spPr>
          <a:xfrm>
            <a:off x="548640" y="1965960"/>
            <a:ext cx="2057400" cy="2743200"/>
          </a:xfrm>
          <a:prstGeom prst="roundRect">
            <a:avLst>
              <a:gd name="adj" fmla="val 4444"/>
            </a:avLst>
          </a:prstGeom>
          <a:solidFill>
            <a:srgbClr val="2A1520"/>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5" name="Shape 3"/>
          <p:cNvSpPr/>
          <p:nvPr/>
        </p:nvSpPr>
        <p:spPr>
          <a:xfrm>
            <a:off x="1298448" y="2194560"/>
            <a:ext cx="566928" cy="566928"/>
          </a:xfrm>
          <a:prstGeom prst="roundRect">
            <a:avLst>
              <a:gd name="adj" fmla="val 50000"/>
            </a:avLst>
          </a:prstGeom>
          <a:solidFill>
            <a:srgbClr val="E23A4E"/>
          </a:solidFill>
          <a:ln w="12700">
            <a:solidFill>
              <a:srgbClr val="2A3A5C"/>
            </a:solidFill>
            <a:prstDash val="solid"/>
          </a:ln>
        </p:spPr>
      </p:sp>
      <p:sp>
        <p:nvSpPr>
          <p:cNvPr id="6" name="Text 4"/>
          <p:cNvSpPr/>
          <p:nvPr/>
        </p:nvSpPr>
        <p:spPr>
          <a:xfrm>
            <a:off x="1298448" y="21945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548640" y="2852928"/>
            <a:ext cx="2057400" cy="256032"/>
          </a:xfrm>
          <a:prstGeom prst="rect">
            <a:avLst/>
          </a:prstGeom>
          <a:noFill/>
          <a:ln/>
        </p:spPr>
        <p:txBody>
          <a:bodyPr wrap="square" rtlCol="0" anchor="ctr"/>
          <a:lstStyle/>
          <a:p>
            <a:pPr algn="ctr" indent="0" marL="0">
              <a:buNone/>
            </a:pPr>
            <a:r>
              <a:rPr lang="en-US" sz="1000" b="1" spc="200" kern="0" dirty="0">
                <a:solidFill>
                  <a:srgbClr val="9AA6BE"/>
                </a:solidFill>
                <a:latin typeface="Calibri" pitchFamily="34" charset="0"/>
                <a:ea typeface="Calibri" pitchFamily="34" charset="-122"/>
                <a:cs typeface="Calibri" pitchFamily="34" charset="-120"/>
              </a:rPr>
              <a:t>LEVEL</a:t>
            </a:r>
            <a:endParaRPr lang="en-US" sz="1000" dirty="0"/>
          </a:p>
        </p:txBody>
      </p:sp>
      <p:sp>
        <p:nvSpPr>
          <p:cNvPr id="8" name="Text 6"/>
          <p:cNvSpPr/>
          <p:nvPr/>
        </p:nvSpPr>
        <p:spPr>
          <a:xfrm>
            <a:off x="658368" y="3108960"/>
            <a:ext cx="1828800" cy="640080"/>
          </a:xfrm>
          <a:prstGeom prst="rect">
            <a:avLst/>
          </a:prstGeom>
          <a:noFill/>
          <a:ln/>
        </p:spPr>
        <p:txBody>
          <a:bodyPr wrap="square" lIns="0" tIns="0" rIns="0" bIns="0" rtlCol="0" anchor="ctr"/>
          <a:lstStyle/>
          <a:p>
            <a:pPr algn="ctr" indent="0" marL="0">
              <a:buNone/>
            </a:pPr>
            <a:r>
              <a:rPr lang="en-US" sz="1500" b="1" dirty="0">
                <a:solidFill>
                  <a:srgbClr val="EAF0FB"/>
                </a:solidFill>
                <a:latin typeface="Cambria" pitchFamily="34" charset="0"/>
                <a:ea typeface="Cambria" pitchFamily="34" charset="-122"/>
                <a:cs typeface="Cambria" pitchFamily="34" charset="-120"/>
              </a:rPr>
              <a:t>Ad-hoc / Prototype</a:t>
            </a:r>
            <a:endParaRPr lang="en-US" sz="1500" dirty="0"/>
          </a:p>
        </p:txBody>
      </p:sp>
      <p:sp>
        <p:nvSpPr>
          <p:cNvPr id="9" name="Text 7"/>
          <p:cNvSpPr/>
          <p:nvPr/>
        </p:nvSpPr>
        <p:spPr>
          <a:xfrm>
            <a:off x="658368" y="3767328"/>
            <a:ext cx="1828800" cy="822960"/>
          </a:xfrm>
          <a:prstGeom prst="rect">
            <a:avLst/>
          </a:prstGeom>
          <a:noFill/>
          <a:ln/>
        </p:spPr>
        <p:txBody>
          <a:bodyPr wrap="square" lIns="0" tIns="0" rIns="0" bIns="0" rtlCol="0" anchor="ctr"/>
          <a:lstStyle/>
          <a:p>
            <a:pPr algn="ctr" indent="0" marL="0">
              <a:buNone/>
            </a:pPr>
            <a:r>
              <a:rPr lang="en-US" sz="1100" dirty="0">
                <a:solidFill>
                  <a:srgbClr val="9AA6BE"/>
                </a:solidFill>
                <a:latin typeface="Calibri" pitchFamily="34" charset="0"/>
                <a:ea typeface="Calibri" pitchFamily="34" charset="-122"/>
                <a:cs typeface="Calibri" pitchFamily="34" charset="-120"/>
              </a:rPr>
              <a:t>No enforced auth; data trusts the network</a:t>
            </a:r>
            <a:endParaRPr lang="en-US" sz="1100" dirty="0"/>
          </a:p>
        </p:txBody>
      </p:sp>
      <p:sp>
        <p:nvSpPr>
          <p:cNvPr id="10" name="Text 8"/>
          <p:cNvSpPr/>
          <p:nvPr/>
        </p:nvSpPr>
        <p:spPr>
          <a:xfrm>
            <a:off x="548640" y="4754880"/>
            <a:ext cx="2057400" cy="274320"/>
          </a:xfrm>
          <a:prstGeom prst="rect">
            <a:avLst/>
          </a:prstGeom>
          <a:noFill/>
          <a:ln/>
        </p:spPr>
        <p:txBody>
          <a:bodyPr wrap="square" rtlCol="0" anchor="ctr"/>
          <a:lstStyle/>
          <a:p>
            <a:pPr algn="ctr" indent="0" marL="0">
              <a:buNone/>
            </a:pPr>
            <a:r>
              <a:rPr lang="en-US" sz="1100" b="1" dirty="0">
                <a:solidFill>
                  <a:srgbClr val="E23A4E"/>
                </a:solidFill>
                <a:latin typeface="Calibri" pitchFamily="34" charset="0"/>
                <a:ea typeface="Calibri" pitchFamily="34" charset="-122"/>
                <a:cs typeface="Calibri" pitchFamily="34" charset="-120"/>
              </a:rPr>
              <a:t>◄ YOU ARE HERE</a:t>
            </a:r>
            <a:endParaRPr lang="en-US" sz="1100" dirty="0"/>
          </a:p>
        </p:txBody>
      </p:sp>
      <p:sp>
        <p:nvSpPr>
          <p:cNvPr id="11" name="Shape 9"/>
          <p:cNvSpPr/>
          <p:nvPr/>
        </p:nvSpPr>
        <p:spPr>
          <a:xfrm>
            <a:off x="2798064" y="1965960"/>
            <a:ext cx="2057400" cy="2743200"/>
          </a:xfrm>
          <a:prstGeom prst="roundRect">
            <a:avLst>
              <a:gd name="adj" fmla="val 4444"/>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12" name="Shape 10"/>
          <p:cNvSpPr/>
          <p:nvPr/>
        </p:nvSpPr>
        <p:spPr>
          <a:xfrm>
            <a:off x="3547872" y="2194560"/>
            <a:ext cx="566928" cy="566928"/>
          </a:xfrm>
          <a:prstGeom prst="roundRect">
            <a:avLst>
              <a:gd name="adj" fmla="val 50000"/>
            </a:avLst>
          </a:prstGeom>
          <a:solidFill>
            <a:srgbClr val="1F2E4D"/>
          </a:solidFill>
          <a:ln w="12700">
            <a:solidFill>
              <a:srgbClr val="2A3A5C"/>
            </a:solidFill>
            <a:prstDash val="solid"/>
          </a:ln>
        </p:spPr>
      </p:sp>
      <p:sp>
        <p:nvSpPr>
          <p:cNvPr id="13" name="Text 11"/>
          <p:cNvSpPr/>
          <p:nvPr/>
        </p:nvSpPr>
        <p:spPr>
          <a:xfrm>
            <a:off x="3547872" y="21945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2"/>
          <p:cNvSpPr/>
          <p:nvPr/>
        </p:nvSpPr>
        <p:spPr>
          <a:xfrm>
            <a:off x="2798064" y="2852928"/>
            <a:ext cx="2057400" cy="256032"/>
          </a:xfrm>
          <a:prstGeom prst="rect">
            <a:avLst/>
          </a:prstGeom>
          <a:noFill/>
          <a:ln/>
        </p:spPr>
        <p:txBody>
          <a:bodyPr wrap="square" rtlCol="0" anchor="ctr"/>
          <a:lstStyle/>
          <a:p>
            <a:pPr algn="ctr" indent="0" marL="0">
              <a:buNone/>
            </a:pPr>
            <a:r>
              <a:rPr lang="en-US" sz="1000" b="1" spc="200" kern="0" dirty="0">
                <a:solidFill>
                  <a:srgbClr val="9AA6BE"/>
                </a:solidFill>
                <a:latin typeface="Calibri" pitchFamily="34" charset="0"/>
                <a:ea typeface="Calibri" pitchFamily="34" charset="-122"/>
                <a:cs typeface="Calibri" pitchFamily="34" charset="-120"/>
              </a:rPr>
              <a:t>LEVEL</a:t>
            </a:r>
            <a:endParaRPr lang="en-US" sz="1000" dirty="0"/>
          </a:p>
        </p:txBody>
      </p:sp>
      <p:sp>
        <p:nvSpPr>
          <p:cNvPr id="15" name="Text 13"/>
          <p:cNvSpPr/>
          <p:nvPr/>
        </p:nvSpPr>
        <p:spPr>
          <a:xfrm>
            <a:off x="2907792" y="3108960"/>
            <a:ext cx="1828800" cy="640080"/>
          </a:xfrm>
          <a:prstGeom prst="rect">
            <a:avLst/>
          </a:prstGeom>
          <a:noFill/>
          <a:ln/>
        </p:spPr>
        <p:txBody>
          <a:bodyPr wrap="square" lIns="0" tIns="0" rIns="0" bIns="0" rtlCol="0" anchor="ctr"/>
          <a:lstStyle/>
          <a:p>
            <a:pPr algn="ctr" indent="0" marL="0">
              <a:buNone/>
            </a:pPr>
            <a:r>
              <a:rPr lang="en-US" sz="1500" b="1" dirty="0">
                <a:solidFill>
                  <a:srgbClr val="EAF0FB"/>
                </a:solidFill>
                <a:latin typeface="Cambria" pitchFamily="34" charset="0"/>
                <a:ea typeface="Cambria" pitchFamily="34" charset="-122"/>
                <a:cs typeface="Cambria" pitchFamily="34" charset="-120"/>
              </a:rPr>
              <a:t>Basic</a:t>
            </a:r>
            <a:endParaRPr lang="en-US" sz="1500" dirty="0"/>
          </a:p>
        </p:txBody>
      </p:sp>
      <p:sp>
        <p:nvSpPr>
          <p:cNvPr id="16" name="Text 14"/>
          <p:cNvSpPr/>
          <p:nvPr/>
        </p:nvSpPr>
        <p:spPr>
          <a:xfrm>
            <a:off x="2907792" y="3767328"/>
            <a:ext cx="1828800" cy="822960"/>
          </a:xfrm>
          <a:prstGeom prst="rect">
            <a:avLst/>
          </a:prstGeom>
          <a:noFill/>
          <a:ln/>
        </p:spPr>
        <p:txBody>
          <a:bodyPr wrap="square" lIns="0" tIns="0" rIns="0" bIns="0" rtlCol="0" anchor="ctr"/>
          <a:lstStyle/>
          <a:p>
            <a:pPr algn="ctr" indent="0" marL="0">
              <a:buNone/>
            </a:pPr>
            <a:r>
              <a:rPr lang="en-US" sz="1100" dirty="0">
                <a:solidFill>
                  <a:srgbClr val="9AA6BE"/>
                </a:solidFill>
                <a:latin typeface="Calibri" pitchFamily="34" charset="0"/>
                <a:ea typeface="Calibri" pitchFamily="34" charset="-122"/>
                <a:cs typeface="Calibri" pitchFamily="34" charset="-120"/>
              </a:rPr>
              <a:t>Server auth exists but gaps remain</a:t>
            </a:r>
            <a:endParaRPr lang="en-US" sz="1100" dirty="0"/>
          </a:p>
        </p:txBody>
      </p:sp>
      <p:sp>
        <p:nvSpPr>
          <p:cNvPr id="17" name="Shape 15"/>
          <p:cNvSpPr/>
          <p:nvPr/>
        </p:nvSpPr>
        <p:spPr>
          <a:xfrm>
            <a:off x="5047488" y="1965960"/>
            <a:ext cx="2057400" cy="2743200"/>
          </a:xfrm>
          <a:prstGeom prst="roundRect">
            <a:avLst>
              <a:gd name="adj" fmla="val 4444"/>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18" name="Shape 16"/>
          <p:cNvSpPr/>
          <p:nvPr/>
        </p:nvSpPr>
        <p:spPr>
          <a:xfrm>
            <a:off x="5797296" y="2194560"/>
            <a:ext cx="566928" cy="566928"/>
          </a:xfrm>
          <a:prstGeom prst="roundRect">
            <a:avLst>
              <a:gd name="adj" fmla="val 50000"/>
            </a:avLst>
          </a:prstGeom>
          <a:solidFill>
            <a:srgbClr val="1F2E4D"/>
          </a:solidFill>
          <a:ln w="12700">
            <a:solidFill>
              <a:srgbClr val="2A3A5C"/>
            </a:solidFill>
            <a:prstDash val="solid"/>
          </a:ln>
        </p:spPr>
      </p:sp>
      <p:sp>
        <p:nvSpPr>
          <p:cNvPr id="19" name="Text 17"/>
          <p:cNvSpPr/>
          <p:nvPr/>
        </p:nvSpPr>
        <p:spPr>
          <a:xfrm>
            <a:off x="5797296" y="21945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0" name="Text 18"/>
          <p:cNvSpPr/>
          <p:nvPr/>
        </p:nvSpPr>
        <p:spPr>
          <a:xfrm>
            <a:off x="5047488" y="2852928"/>
            <a:ext cx="2057400" cy="256032"/>
          </a:xfrm>
          <a:prstGeom prst="rect">
            <a:avLst/>
          </a:prstGeom>
          <a:noFill/>
          <a:ln/>
        </p:spPr>
        <p:txBody>
          <a:bodyPr wrap="square" rtlCol="0" anchor="ctr"/>
          <a:lstStyle/>
          <a:p>
            <a:pPr algn="ctr" indent="0" marL="0">
              <a:buNone/>
            </a:pPr>
            <a:r>
              <a:rPr lang="en-US" sz="1000" b="1" spc="200" kern="0" dirty="0">
                <a:solidFill>
                  <a:srgbClr val="9AA6BE"/>
                </a:solidFill>
                <a:latin typeface="Calibri" pitchFamily="34" charset="0"/>
                <a:ea typeface="Calibri" pitchFamily="34" charset="-122"/>
                <a:cs typeface="Calibri" pitchFamily="34" charset="-120"/>
              </a:rPr>
              <a:t>LEVEL</a:t>
            </a:r>
            <a:endParaRPr lang="en-US" sz="1000" dirty="0"/>
          </a:p>
        </p:txBody>
      </p:sp>
      <p:sp>
        <p:nvSpPr>
          <p:cNvPr id="21" name="Text 19"/>
          <p:cNvSpPr/>
          <p:nvPr/>
        </p:nvSpPr>
        <p:spPr>
          <a:xfrm>
            <a:off x="5157216" y="3108960"/>
            <a:ext cx="1828800" cy="640080"/>
          </a:xfrm>
          <a:prstGeom prst="rect">
            <a:avLst/>
          </a:prstGeom>
          <a:noFill/>
          <a:ln/>
        </p:spPr>
        <p:txBody>
          <a:bodyPr wrap="square" lIns="0" tIns="0" rIns="0" bIns="0" rtlCol="0" anchor="ctr"/>
          <a:lstStyle/>
          <a:p>
            <a:pPr algn="ctr" indent="0" marL="0">
              <a:buNone/>
            </a:pPr>
            <a:r>
              <a:rPr lang="en-US" sz="1500" b="1" dirty="0">
                <a:solidFill>
                  <a:srgbClr val="EAF0FB"/>
                </a:solidFill>
                <a:latin typeface="Cambria" pitchFamily="34" charset="0"/>
                <a:ea typeface="Cambria" pitchFamily="34" charset="-122"/>
                <a:cs typeface="Cambria" pitchFamily="34" charset="-120"/>
              </a:rPr>
              <a:t>Managed</a:t>
            </a:r>
            <a:endParaRPr lang="en-US" sz="1500" dirty="0"/>
          </a:p>
        </p:txBody>
      </p:sp>
      <p:sp>
        <p:nvSpPr>
          <p:cNvPr id="22" name="Text 20"/>
          <p:cNvSpPr/>
          <p:nvPr/>
        </p:nvSpPr>
        <p:spPr>
          <a:xfrm>
            <a:off x="5157216" y="3767328"/>
            <a:ext cx="1828800" cy="822960"/>
          </a:xfrm>
          <a:prstGeom prst="rect">
            <a:avLst/>
          </a:prstGeom>
          <a:noFill/>
          <a:ln/>
        </p:spPr>
        <p:txBody>
          <a:bodyPr wrap="square" lIns="0" tIns="0" rIns="0" bIns="0" rtlCol="0" anchor="ctr"/>
          <a:lstStyle/>
          <a:p>
            <a:pPr algn="ctr" indent="0" marL="0">
              <a:buNone/>
            </a:pPr>
            <a:r>
              <a:rPr lang="en-US" sz="1100" dirty="0">
                <a:solidFill>
                  <a:srgbClr val="9AA6BE"/>
                </a:solidFill>
                <a:latin typeface="Calibri" pitchFamily="34" charset="0"/>
                <a:ea typeface="Calibri" pitchFamily="34" charset="-122"/>
                <a:cs typeface="Calibri" pitchFamily="34" charset="-120"/>
              </a:rPr>
              <a:t>Auth + RBAC + TLS + logging in place</a:t>
            </a:r>
            <a:endParaRPr lang="en-US" sz="1100" dirty="0"/>
          </a:p>
        </p:txBody>
      </p:sp>
      <p:sp>
        <p:nvSpPr>
          <p:cNvPr id="23" name="Shape 21"/>
          <p:cNvSpPr/>
          <p:nvPr/>
        </p:nvSpPr>
        <p:spPr>
          <a:xfrm>
            <a:off x="7296912" y="1965960"/>
            <a:ext cx="2057400" cy="2743200"/>
          </a:xfrm>
          <a:prstGeom prst="roundRect">
            <a:avLst>
              <a:gd name="adj" fmla="val 4444"/>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24" name="Shape 22"/>
          <p:cNvSpPr/>
          <p:nvPr/>
        </p:nvSpPr>
        <p:spPr>
          <a:xfrm>
            <a:off x="8046720" y="2194560"/>
            <a:ext cx="566928" cy="566928"/>
          </a:xfrm>
          <a:prstGeom prst="roundRect">
            <a:avLst>
              <a:gd name="adj" fmla="val 50000"/>
            </a:avLst>
          </a:prstGeom>
          <a:solidFill>
            <a:srgbClr val="3FB27F"/>
          </a:solidFill>
          <a:ln w="12700">
            <a:solidFill>
              <a:srgbClr val="2A3A5C"/>
            </a:solidFill>
            <a:prstDash val="solid"/>
          </a:ln>
        </p:spPr>
      </p:sp>
      <p:sp>
        <p:nvSpPr>
          <p:cNvPr id="25" name="Text 23"/>
          <p:cNvSpPr/>
          <p:nvPr/>
        </p:nvSpPr>
        <p:spPr>
          <a:xfrm>
            <a:off x="8046720" y="21945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6" name="Text 24"/>
          <p:cNvSpPr/>
          <p:nvPr/>
        </p:nvSpPr>
        <p:spPr>
          <a:xfrm>
            <a:off x="7296912" y="2852928"/>
            <a:ext cx="2057400" cy="256032"/>
          </a:xfrm>
          <a:prstGeom prst="rect">
            <a:avLst/>
          </a:prstGeom>
          <a:noFill/>
          <a:ln/>
        </p:spPr>
        <p:txBody>
          <a:bodyPr wrap="square" rtlCol="0" anchor="ctr"/>
          <a:lstStyle/>
          <a:p>
            <a:pPr algn="ctr" indent="0" marL="0">
              <a:buNone/>
            </a:pPr>
            <a:r>
              <a:rPr lang="en-US" sz="1000" b="1" spc="200" kern="0" dirty="0">
                <a:solidFill>
                  <a:srgbClr val="9AA6BE"/>
                </a:solidFill>
                <a:latin typeface="Calibri" pitchFamily="34" charset="0"/>
                <a:ea typeface="Calibri" pitchFamily="34" charset="-122"/>
                <a:cs typeface="Calibri" pitchFamily="34" charset="-120"/>
              </a:rPr>
              <a:t>LEVEL</a:t>
            </a:r>
            <a:endParaRPr lang="en-US" sz="1000" dirty="0"/>
          </a:p>
        </p:txBody>
      </p:sp>
      <p:sp>
        <p:nvSpPr>
          <p:cNvPr id="27" name="Text 25"/>
          <p:cNvSpPr/>
          <p:nvPr/>
        </p:nvSpPr>
        <p:spPr>
          <a:xfrm>
            <a:off x="7406640" y="3108960"/>
            <a:ext cx="1828800" cy="640080"/>
          </a:xfrm>
          <a:prstGeom prst="rect">
            <a:avLst/>
          </a:prstGeom>
          <a:noFill/>
          <a:ln/>
        </p:spPr>
        <p:txBody>
          <a:bodyPr wrap="square" lIns="0" tIns="0" rIns="0" bIns="0" rtlCol="0" anchor="ctr"/>
          <a:lstStyle/>
          <a:p>
            <a:pPr algn="ctr" indent="0" marL="0">
              <a:buNone/>
            </a:pPr>
            <a:r>
              <a:rPr lang="en-US" sz="1500" b="1" dirty="0">
                <a:solidFill>
                  <a:srgbClr val="EAF0FB"/>
                </a:solidFill>
                <a:latin typeface="Cambria" pitchFamily="34" charset="0"/>
                <a:ea typeface="Cambria" pitchFamily="34" charset="-122"/>
                <a:cs typeface="Cambria" pitchFamily="34" charset="-120"/>
              </a:rPr>
              <a:t>Hardened</a:t>
            </a:r>
            <a:endParaRPr lang="en-US" sz="1500" dirty="0"/>
          </a:p>
        </p:txBody>
      </p:sp>
      <p:sp>
        <p:nvSpPr>
          <p:cNvPr id="28" name="Text 26"/>
          <p:cNvSpPr/>
          <p:nvPr/>
        </p:nvSpPr>
        <p:spPr>
          <a:xfrm>
            <a:off x="7406640" y="3767328"/>
            <a:ext cx="1828800" cy="822960"/>
          </a:xfrm>
          <a:prstGeom prst="rect">
            <a:avLst/>
          </a:prstGeom>
          <a:noFill/>
          <a:ln/>
        </p:spPr>
        <p:txBody>
          <a:bodyPr wrap="square" lIns="0" tIns="0" rIns="0" bIns="0" rtlCol="0" anchor="ctr"/>
          <a:lstStyle/>
          <a:p>
            <a:pPr algn="ctr" indent="0" marL="0">
              <a:buNone/>
            </a:pPr>
            <a:r>
              <a:rPr lang="en-US" sz="1100" dirty="0">
                <a:solidFill>
                  <a:srgbClr val="9AA6BE"/>
                </a:solidFill>
                <a:latin typeface="Calibri" pitchFamily="34" charset="0"/>
                <a:ea typeface="Calibri" pitchFamily="34" charset="-122"/>
                <a:cs typeface="Calibri" pitchFamily="34" charset="-120"/>
              </a:rPr>
              <a:t>Least-privilege, WAF, tamper-proof audit</a:t>
            </a:r>
            <a:endParaRPr lang="en-US" sz="1100" dirty="0"/>
          </a:p>
        </p:txBody>
      </p:sp>
      <p:sp>
        <p:nvSpPr>
          <p:cNvPr id="29" name="Shape 27"/>
          <p:cNvSpPr/>
          <p:nvPr/>
        </p:nvSpPr>
        <p:spPr>
          <a:xfrm>
            <a:off x="9546336" y="1965960"/>
            <a:ext cx="2057400" cy="2743200"/>
          </a:xfrm>
          <a:prstGeom prst="roundRect">
            <a:avLst>
              <a:gd name="adj" fmla="val 4444"/>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30" name="Shape 28"/>
          <p:cNvSpPr/>
          <p:nvPr/>
        </p:nvSpPr>
        <p:spPr>
          <a:xfrm>
            <a:off x="10296144" y="2194560"/>
            <a:ext cx="566928" cy="566928"/>
          </a:xfrm>
          <a:prstGeom prst="roundRect">
            <a:avLst>
              <a:gd name="adj" fmla="val 50000"/>
            </a:avLst>
          </a:prstGeom>
          <a:solidFill>
            <a:srgbClr val="3FB27F"/>
          </a:solidFill>
          <a:ln w="12700">
            <a:solidFill>
              <a:srgbClr val="2A3A5C"/>
            </a:solidFill>
            <a:prstDash val="solid"/>
          </a:ln>
        </p:spPr>
      </p:sp>
      <p:sp>
        <p:nvSpPr>
          <p:cNvPr id="31" name="Text 29"/>
          <p:cNvSpPr/>
          <p:nvPr/>
        </p:nvSpPr>
        <p:spPr>
          <a:xfrm>
            <a:off x="10296144" y="21945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32" name="Text 30"/>
          <p:cNvSpPr/>
          <p:nvPr/>
        </p:nvSpPr>
        <p:spPr>
          <a:xfrm>
            <a:off x="9546336" y="2852928"/>
            <a:ext cx="2057400" cy="256032"/>
          </a:xfrm>
          <a:prstGeom prst="rect">
            <a:avLst/>
          </a:prstGeom>
          <a:noFill/>
          <a:ln/>
        </p:spPr>
        <p:txBody>
          <a:bodyPr wrap="square" rtlCol="0" anchor="ctr"/>
          <a:lstStyle/>
          <a:p>
            <a:pPr algn="ctr" indent="0" marL="0">
              <a:buNone/>
            </a:pPr>
            <a:r>
              <a:rPr lang="en-US" sz="1000" b="1" spc="200" kern="0" dirty="0">
                <a:solidFill>
                  <a:srgbClr val="9AA6BE"/>
                </a:solidFill>
                <a:latin typeface="Calibri" pitchFamily="34" charset="0"/>
                <a:ea typeface="Calibri" pitchFamily="34" charset="-122"/>
                <a:cs typeface="Calibri" pitchFamily="34" charset="-120"/>
              </a:rPr>
              <a:t>LEVEL</a:t>
            </a:r>
            <a:endParaRPr lang="en-US" sz="1000" dirty="0"/>
          </a:p>
        </p:txBody>
      </p:sp>
      <p:sp>
        <p:nvSpPr>
          <p:cNvPr id="33" name="Text 31"/>
          <p:cNvSpPr/>
          <p:nvPr/>
        </p:nvSpPr>
        <p:spPr>
          <a:xfrm>
            <a:off x="9656064" y="3108960"/>
            <a:ext cx="1828800" cy="640080"/>
          </a:xfrm>
          <a:prstGeom prst="rect">
            <a:avLst/>
          </a:prstGeom>
          <a:noFill/>
          <a:ln/>
        </p:spPr>
        <p:txBody>
          <a:bodyPr wrap="square" lIns="0" tIns="0" rIns="0" bIns="0" rtlCol="0" anchor="ctr"/>
          <a:lstStyle/>
          <a:p>
            <a:pPr algn="ctr" indent="0" marL="0">
              <a:buNone/>
            </a:pPr>
            <a:r>
              <a:rPr lang="en-US" sz="1500" b="1" dirty="0">
                <a:solidFill>
                  <a:srgbClr val="EAF0FB"/>
                </a:solidFill>
                <a:latin typeface="Cambria" pitchFamily="34" charset="0"/>
                <a:ea typeface="Cambria" pitchFamily="34" charset="-122"/>
                <a:cs typeface="Cambria" pitchFamily="34" charset="-120"/>
              </a:rPr>
              <a:t>Assured</a:t>
            </a:r>
            <a:endParaRPr lang="en-US" sz="1500" dirty="0"/>
          </a:p>
        </p:txBody>
      </p:sp>
      <p:sp>
        <p:nvSpPr>
          <p:cNvPr id="34" name="Text 32"/>
          <p:cNvSpPr/>
          <p:nvPr/>
        </p:nvSpPr>
        <p:spPr>
          <a:xfrm>
            <a:off x="9656064" y="3767328"/>
            <a:ext cx="1828800" cy="822960"/>
          </a:xfrm>
          <a:prstGeom prst="rect">
            <a:avLst/>
          </a:prstGeom>
          <a:noFill/>
          <a:ln/>
        </p:spPr>
        <p:txBody>
          <a:bodyPr wrap="square" lIns="0" tIns="0" rIns="0" bIns="0" rtlCol="0" anchor="ctr"/>
          <a:lstStyle/>
          <a:p>
            <a:pPr algn="ctr" indent="0" marL="0">
              <a:buNone/>
            </a:pPr>
            <a:r>
              <a:rPr lang="en-US" sz="1100" dirty="0">
                <a:solidFill>
                  <a:srgbClr val="9AA6BE"/>
                </a:solidFill>
                <a:latin typeface="Calibri" pitchFamily="34" charset="0"/>
                <a:ea typeface="Calibri" pitchFamily="34" charset="-122"/>
                <a:cs typeface="Calibri" pitchFamily="34" charset="-120"/>
              </a:rPr>
              <a:t>Continuous testing, monitoring, compliance</a:t>
            </a:r>
            <a:endParaRPr lang="en-US" sz="1100" dirty="0"/>
          </a:p>
        </p:txBody>
      </p:sp>
      <p:sp>
        <p:nvSpPr>
          <p:cNvPr id="35" name="Shape 33"/>
          <p:cNvSpPr/>
          <p:nvPr/>
        </p:nvSpPr>
        <p:spPr>
          <a:xfrm>
            <a:off x="548640" y="5257800"/>
            <a:ext cx="11091672" cy="914400"/>
          </a:xfrm>
          <a:prstGeom prst="roundRect">
            <a:avLst>
              <a:gd name="adj" fmla="val 10000"/>
            </a:avLst>
          </a:prstGeom>
          <a:solidFill>
            <a:srgbClr val="1F2E4D"/>
          </a:solidFill>
          <a:ln/>
        </p:spPr>
      </p:sp>
      <p:sp>
        <p:nvSpPr>
          <p:cNvPr id="36" name="Text 34"/>
          <p:cNvSpPr/>
          <p:nvPr/>
        </p:nvSpPr>
        <p:spPr>
          <a:xfrm>
            <a:off x="822960" y="5349240"/>
            <a:ext cx="10515600" cy="731520"/>
          </a:xfrm>
          <a:prstGeom prst="rect">
            <a:avLst/>
          </a:prstGeom>
          <a:noFill/>
          <a:ln/>
        </p:spPr>
        <p:txBody>
          <a:bodyPr wrap="square" rtlCol="0" anchor="ctr"/>
          <a:lstStyle/>
          <a:p>
            <a:pPr indent="0" marL="0">
              <a:buNone/>
            </a:pPr>
            <a:r>
              <a:rPr lang="en-US" sz="1400" b="1" dirty="0">
                <a:solidFill>
                  <a:srgbClr val="E23A4E"/>
                </a:solidFill>
                <a:latin typeface="Calibri" pitchFamily="34" charset="0"/>
                <a:ea typeface="Calibri" pitchFamily="34" charset="-122"/>
                <a:cs typeface="Calibri" pitchFamily="34" charset="-120"/>
              </a:rPr>
              <a:t>Current: Level 1.   </a:t>
            </a:r>
            <a:pPr indent="0" marL="0">
              <a:buNone/>
            </a:pPr>
            <a:r>
              <a:rPr lang="en-US" sz="1400" dirty="0">
                <a:solidFill>
                  <a:srgbClr val="EAF0FB"/>
                </a:solidFill>
                <a:latin typeface="Calibri" pitchFamily="34" charset="0"/>
                <a:ea typeface="Calibri" pitchFamily="34" charset="-122"/>
                <a:cs typeface="Calibri" pitchFamily="34" charset="-120"/>
              </a:rPr>
              <a:t>Closing the four Critical findings and features F-1…F-4 moves the platform to Level 3; the network controls and CI gates that follow take it to Level 4–5.</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524"/>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300" kern="0" dirty="0">
                <a:solidFill>
                  <a:srgbClr val="39C0C8"/>
                </a:solidFill>
                <a:latin typeface="Calibri" pitchFamily="34" charset="0"/>
                <a:ea typeface="Calibri" pitchFamily="34" charset="-122"/>
                <a:cs typeface="Calibri" pitchFamily="34" charset="-120"/>
              </a:rPr>
              <a:t>SECTION 06 · ROADMAP</a:t>
            </a:r>
            <a:endParaRPr lang="en-US" sz="1200" dirty="0"/>
          </a:p>
        </p:txBody>
      </p:sp>
      <p:sp>
        <p:nvSpPr>
          <p:cNvPr id="3" name="Text 1"/>
          <p:cNvSpPr/>
          <p:nvPr/>
        </p:nvSpPr>
        <p:spPr>
          <a:xfrm>
            <a:off x="530352" y="658368"/>
            <a:ext cx="11155680" cy="640080"/>
          </a:xfrm>
          <a:prstGeom prst="rect">
            <a:avLst/>
          </a:prstGeom>
          <a:noFill/>
          <a:ln/>
        </p:spPr>
        <p:txBody>
          <a:bodyPr wrap="square" rtlCol="0" anchor="ctr"/>
          <a:lstStyle/>
          <a:p>
            <a:pPr indent="0" marL="0">
              <a:buNone/>
            </a:pPr>
            <a:r>
              <a:rPr lang="en-US" sz="3000" b="1" dirty="0">
                <a:solidFill>
                  <a:srgbClr val="EAF0FB"/>
                </a:solidFill>
                <a:latin typeface="Cambria" pitchFamily="34" charset="0"/>
                <a:ea typeface="Cambria" pitchFamily="34" charset="-122"/>
                <a:cs typeface="Cambria" pitchFamily="34" charset="-120"/>
              </a:rPr>
              <a:t>Required security features</a:t>
            </a:r>
            <a:endParaRPr lang="en-US" sz="3000" dirty="0"/>
          </a:p>
        </p:txBody>
      </p:sp>
      <p:sp>
        <p:nvSpPr>
          <p:cNvPr id="4" name="Shape 2"/>
          <p:cNvSpPr/>
          <p:nvPr/>
        </p:nvSpPr>
        <p:spPr>
          <a:xfrm>
            <a:off x="548640" y="1554480"/>
            <a:ext cx="3520440" cy="4572000"/>
          </a:xfrm>
          <a:prstGeom prst="roundRect">
            <a:avLst>
              <a:gd name="adj" fmla="val 2597"/>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5" name="Shape 3"/>
          <p:cNvSpPr/>
          <p:nvPr/>
        </p:nvSpPr>
        <p:spPr>
          <a:xfrm>
            <a:off x="777240" y="1783080"/>
            <a:ext cx="914400" cy="457200"/>
          </a:xfrm>
          <a:prstGeom prst="roundRect">
            <a:avLst>
              <a:gd name="adj" fmla="val 16000"/>
            </a:avLst>
          </a:prstGeom>
          <a:solidFill>
            <a:srgbClr val="E23A4E"/>
          </a:solidFill>
          <a:ln/>
        </p:spPr>
      </p:sp>
      <p:sp>
        <p:nvSpPr>
          <p:cNvPr id="6" name="Text 4"/>
          <p:cNvSpPr/>
          <p:nvPr/>
        </p:nvSpPr>
        <p:spPr>
          <a:xfrm>
            <a:off x="777240" y="1783080"/>
            <a:ext cx="9144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P0</a:t>
            </a:r>
            <a:endParaRPr lang="en-US" sz="1800" dirty="0"/>
          </a:p>
        </p:txBody>
      </p:sp>
      <p:sp>
        <p:nvSpPr>
          <p:cNvPr id="7" name="Text 5"/>
          <p:cNvSpPr/>
          <p:nvPr/>
        </p:nvSpPr>
        <p:spPr>
          <a:xfrm>
            <a:off x="1783080" y="1783080"/>
            <a:ext cx="2194560" cy="457200"/>
          </a:xfrm>
          <a:prstGeom prst="rect">
            <a:avLst/>
          </a:prstGeom>
          <a:noFill/>
          <a:ln/>
        </p:spPr>
        <p:txBody>
          <a:bodyPr wrap="square" lIns="0" tIns="0" rIns="0" bIns="0" rtlCol="0" anchor="ctr"/>
          <a:lstStyle/>
          <a:p>
            <a:pPr indent="0" marL="0">
              <a:buNone/>
            </a:pPr>
            <a:r>
              <a:rPr lang="en-US" sz="1200" b="1" dirty="0">
                <a:solidFill>
                  <a:srgbClr val="EAF0FB"/>
                </a:solidFill>
                <a:latin typeface="Calibri" pitchFamily="34" charset="0"/>
                <a:ea typeface="Calibri" pitchFamily="34" charset="-122"/>
                <a:cs typeface="Calibri" pitchFamily="34" charset="-120"/>
              </a:rPr>
              <a:t>Must fix before ANY real data</a:t>
            </a:r>
            <a:endParaRPr lang="en-US" sz="1200" dirty="0"/>
          </a:p>
        </p:txBody>
      </p:sp>
      <p:sp>
        <p:nvSpPr>
          <p:cNvPr id="8" name="Text 6"/>
          <p:cNvSpPr/>
          <p:nvPr/>
        </p:nvSpPr>
        <p:spPr>
          <a:xfrm>
            <a:off x="804672" y="2468880"/>
            <a:ext cx="3108960" cy="3520440"/>
          </a:xfrm>
          <a:prstGeom prst="rect">
            <a:avLst/>
          </a:prstGeom>
          <a:noFill/>
          <a:ln/>
        </p:spPr>
        <p:txBody>
          <a:bodyPr wrap="square" rtlCol="0" anchor="t"/>
          <a:lstStyle/>
          <a:p>
            <a:pPr marL="177800" indent="-177800">
              <a:spcAft>
                <a:spcPts val="1200"/>
              </a:spcAft>
              <a:buSzPct val="100000"/>
              <a:buChar char="•"/>
            </a:pPr>
            <a:r>
              <a:rPr lang="en-US" sz="1250" dirty="0">
                <a:solidFill>
                  <a:srgbClr val="EAF0FB"/>
                </a:solidFill>
                <a:latin typeface="Calibri" pitchFamily="34" charset="0"/>
                <a:ea typeface="Calibri" pitchFamily="34" charset="-122"/>
                <a:cs typeface="Calibri" pitchFamily="34" charset="-120"/>
              </a:rPr>
              <a:t>F-1  Server-enforced authentication (verify JWT on every request)</a:t>
            </a:r>
            <a:endParaRPr lang="en-US" sz="1250" dirty="0"/>
          </a:p>
          <a:p>
            <a:pPr marL="177800" indent="-177800">
              <a:spcAft>
                <a:spcPts val="1200"/>
              </a:spcAft>
              <a:buSzPct val="100000"/>
              <a:buChar char="•"/>
            </a:pPr>
            <a:r>
              <a:rPr lang="en-US" sz="1250" dirty="0">
                <a:solidFill>
                  <a:srgbClr val="EAF0FB"/>
                </a:solidFill>
                <a:latin typeface="Calibri" pitchFamily="34" charset="0"/>
                <a:ea typeface="Calibri" pitchFamily="34" charset="-122"/>
                <a:cs typeface="Calibri" pitchFamily="34" charset="-120"/>
              </a:rPr>
              <a:t>F-2  Server-side RBAC + tenant isolation (make RLS actually run)</a:t>
            </a:r>
            <a:endParaRPr lang="en-US" sz="1250" dirty="0"/>
          </a:p>
          <a:p>
            <a:pPr marL="177800" indent="-177800">
              <a:spcAft>
                <a:spcPts val="1200"/>
              </a:spcAft>
              <a:buSzPct val="100000"/>
              <a:buChar char="•"/>
            </a:pPr>
            <a:r>
              <a:rPr lang="en-US" sz="1250" dirty="0">
                <a:solidFill>
                  <a:srgbClr val="EAF0FB"/>
                </a:solidFill>
                <a:latin typeface="Calibri" pitchFamily="34" charset="0"/>
                <a:ea typeface="Calibri" pitchFamily="34" charset="-122"/>
                <a:cs typeface="Calibri" pitchFamily="34" charset="-120"/>
              </a:rPr>
              <a:t>F-3  Server-authoritative, append-only, tamper-proof audit</a:t>
            </a:r>
            <a:endParaRPr lang="en-US" sz="1250" dirty="0"/>
          </a:p>
          <a:p>
            <a:pPr marL="177800" indent="-177800">
              <a:spcAft>
                <a:spcPts val="1200"/>
              </a:spcAft>
              <a:buSzPct val="100000"/>
              <a:buChar char="•"/>
            </a:pPr>
            <a:r>
              <a:rPr lang="en-US" sz="1250" dirty="0">
                <a:solidFill>
                  <a:srgbClr val="EAF0FB"/>
                </a:solidFill>
                <a:latin typeface="Calibri" pitchFamily="34" charset="0"/>
                <a:ea typeface="Calibri" pitchFamily="34" charset="-122"/>
                <a:cs typeface="Calibri" pitchFamily="34" charset="-120"/>
              </a:rPr>
              <a:t>F-4  Secrets management + rotate the committed key</a:t>
            </a:r>
            <a:endParaRPr lang="en-US" sz="1250" dirty="0"/>
          </a:p>
        </p:txBody>
      </p:sp>
      <p:sp>
        <p:nvSpPr>
          <p:cNvPr id="9" name="Shape 7"/>
          <p:cNvSpPr/>
          <p:nvPr/>
        </p:nvSpPr>
        <p:spPr>
          <a:xfrm>
            <a:off x="4315968" y="1554480"/>
            <a:ext cx="3520440" cy="4572000"/>
          </a:xfrm>
          <a:prstGeom prst="roundRect">
            <a:avLst>
              <a:gd name="adj" fmla="val 2597"/>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10" name="Shape 8"/>
          <p:cNvSpPr/>
          <p:nvPr/>
        </p:nvSpPr>
        <p:spPr>
          <a:xfrm>
            <a:off x="4544568" y="1783080"/>
            <a:ext cx="914400" cy="457200"/>
          </a:xfrm>
          <a:prstGeom prst="roundRect">
            <a:avLst>
              <a:gd name="adj" fmla="val 16000"/>
            </a:avLst>
          </a:prstGeom>
          <a:solidFill>
            <a:srgbClr val="E8912B"/>
          </a:solidFill>
          <a:ln/>
        </p:spPr>
      </p:sp>
      <p:sp>
        <p:nvSpPr>
          <p:cNvPr id="11" name="Text 9"/>
          <p:cNvSpPr/>
          <p:nvPr/>
        </p:nvSpPr>
        <p:spPr>
          <a:xfrm>
            <a:off x="4544568" y="1783080"/>
            <a:ext cx="9144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P1</a:t>
            </a:r>
            <a:endParaRPr lang="en-US" sz="1800" dirty="0"/>
          </a:p>
        </p:txBody>
      </p:sp>
      <p:sp>
        <p:nvSpPr>
          <p:cNvPr id="12" name="Text 10"/>
          <p:cNvSpPr/>
          <p:nvPr/>
        </p:nvSpPr>
        <p:spPr>
          <a:xfrm>
            <a:off x="5550408" y="1783080"/>
            <a:ext cx="2194560" cy="457200"/>
          </a:xfrm>
          <a:prstGeom prst="rect">
            <a:avLst/>
          </a:prstGeom>
          <a:noFill/>
          <a:ln/>
        </p:spPr>
        <p:txBody>
          <a:bodyPr wrap="square" lIns="0" tIns="0" rIns="0" bIns="0" rtlCol="0" anchor="ctr"/>
          <a:lstStyle/>
          <a:p>
            <a:pPr indent="0" marL="0">
              <a:buNone/>
            </a:pPr>
            <a:r>
              <a:rPr lang="en-US" sz="1200" b="1" dirty="0">
                <a:solidFill>
                  <a:srgbClr val="EAF0FB"/>
                </a:solidFill>
                <a:latin typeface="Calibri" pitchFamily="34" charset="0"/>
                <a:ea typeface="Calibri" pitchFamily="34" charset="-122"/>
                <a:cs typeface="Calibri" pitchFamily="34" charset="-120"/>
              </a:rPr>
              <a:t>Before go-live</a:t>
            </a:r>
            <a:endParaRPr lang="en-US" sz="1200" dirty="0"/>
          </a:p>
        </p:txBody>
      </p:sp>
      <p:sp>
        <p:nvSpPr>
          <p:cNvPr id="13" name="Text 11"/>
          <p:cNvSpPr/>
          <p:nvPr/>
        </p:nvSpPr>
        <p:spPr>
          <a:xfrm>
            <a:off x="4572000" y="2468880"/>
            <a:ext cx="3108960" cy="3520440"/>
          </a:xfrm>
          <a:prstGeom prst="rect">
            <a:avLst/>
          </a:prstGeom>
          <a:noFill/>
          <a:ln/>
        </p:spPr>
        <p:txBody>
          <a:bodyPr wrap="square" rtlCol="0" anchor="t"/>
          <a:lstStyle/>
          <a:p>
            <a:pPr marL="177800" indent="-177800">
              <a:spcAft>
                <a:spcPts val="1200"/>
              </a:spcAft>
              <a:buSzPct val="100000"/>
              <a:buChar char="•"/>
            </a:pPr>
            <a:r>
              <a:rPr lang="en-US" sz="1250" dirty="0">
                <a:solidFill>
                  <a:srgbClr val="EAF0FB"/>
                </a:solidFill>
                <a:latin typeface="Calibri" pitchFamily="34" charset="0"/>
                <a:ea typeface="Calibri" pitchFamily="34" charset="-122"/>
                <a:cs typeface="Calibri" pitchFamily="34" charset="-120"/>
              </a:rPr>
              <a:t>F-5  Enforce HTTPS end-to-end + HSTS</a:t>
            </a:r>
            <a:endParaRPr lang="en-US" sz="1250" dirty="0"/>
          </a:p>
          <a:p>
            <a:pPr marL="177800" indent="-177800">
              <a:spcAft>
                <a:spcPts val="1200"/>
              </a:spcAft>
              <a:buSzPct val="100000"/>
              <a:buChar char="•"/>
            </a:pPr>
            <a:r>
              <a:rPr lang="en-US" sz="1250" dirty="0">
                <a:solidFill>
                  <a:srgbClr val="EAF0FB"/>
                </a:solidFill>
                <a:latin typeface="Calibri" pitchFamily="34" charset="0"/>
                <a:ea typeface="Calibri" pitchFamily="34" charset="-122"/>
                <a:cs typeface="Calibri" pitchFamily="34" charset="-120"/>
              </a:rPr>
              <a:t>F-6  HTTP hardening (helmet / CSP) + lock CORS to app origin</a:t>
            </a:r>
            <a:endParaRPr lang="en-US" sz="1250" dirty="0"/>
          </a:p>
          <a:p>
            <a:pPr marL="177800" indent="-177800">
              <a:spcAft>
                <a:spcPts val="1200"/>
              </a:spcAft>
              <a:buSzPct val="100000"/>
              <a:buChar char="•"/>
            </a:pPr>
            <a:r>
              <a:rPr lang="en-US" sz="1250" dirty="0">
                <a:solidFill>
                  <a:srgbClr val="EAF0FB"/>
                </a:solidFill>
                <a:latin typeface="Calibri" pitchFamily="34" charset="0"/>
                <a:ea typeface="Calibri" pitchFamily="34" charset="-122"/>
                <a:cs typeface="Calibri" pitchFamily="34" charset="-120"/>
              </a:rPr>
              <a:t>F-7  Rate limiting + WAF (brute-force &amp; DoS protection)</a:t>
            </a:r>
            <a:endParaRPr lang="en-US" sz="1250" dirty="0"/>
          </a:p>
          <a:p>
            <a:pPr marL="177800" indent="-177800">
              <a:spcAft>
                <a:spcPts val="1200"/>
              </a:spcAft>
              <a:buSzPct val="100000"/>
              <a:buChar char="•"/>
            </a:pPr>
            <a:r>
              <a:rPr lang="en-US" sz="1250" dirty="0">
                <a:solidFill>
                  <a:srgbClr val="EAF0FB"/>
                </a:solidFill>
                <a:latin typeface="Calibri" pitchFamily="34" charset="0"/>
                <a:ea typeface="Calibri" pitchFamily="34" charset="-122"/>
                <a:cs typeface="Calibri" pitchFamily="34" charset="-120"/>
              </a:rPr>
              <a:t>F-8  Input / schema validation; server-generated IDs</a:t>
            </a:r>
            <a:endParaRPr lang="en-US" sz="1250" dirty="0"/>
          </a:p>
        </p:txBody>
      </p:sp>
      <p:sp>
        <p:nvSpPr>
          <p:cNvPr id="14" name="Shape 12"/>
          <p:cNvSpPr/>
          <p:nvPr/>
        </p:nvSpPr>
        <p:spPr>
          <a:xfrm>
            <a:off x="8083296" y="1554480"/>
            <a:ext cx="3520440" cy="4572000"/>
          </a:xfrm>
          <a:prstGeom prst="roundRect">
            <a:avLst>
              <a:gd name="adj" fmla="val 2597"/>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15" name="Shape 13"/>
          <p:cNvSpPr/>
          <p:nvPr/>
        </p:nvSpPr>
        <p:spPr>
          <a:xfrm>
            <a:off x="8311896" y="1783080"/>
            <a:ext cx="914400" cy="457200"/>
          </a:xfrm>
          <a:prstGeom prst="roundRect">
            <a:avLst>
              <a:gd name="adj" fmla="val 16000"/>
            </a:avLst>
          </a:prstGeom>
          <a:solidFill>
            <a:srgbClr val="E4C23B"/>
          </a:solidFill>
          <a:ln/>
        </p:spPr>
      </p:sp>
      <p:sp>
        <p:nvSpPr>
          <p:cNvPr id="16" name="Text 14"/>
          <p:cNvSpPr/>
          <p:nvPr/>
        </p:nvSpPr>
        <p:spPr>
          <a:xfrm>
            <a:off x="8311896" y="1783080"/>
            <a:ext cx="9144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P2</a:t>
            </a:r>
            <a:endParaRPr lang="en-US" sz="1800" dirty="0"/>
          </a:p>
        </p:txBody>
      </p:sp>
      <p:sp>
        <p:nvSpPr>
          <p:cNvPr id="17" name="Text 15"/>
          <p:cNvSpPr/>
          <p:nvPr/>
        </p:nvSpPr>
        <p:spPr>
          <a:xfrm>
            <a:off x="9317736" y="1783080"/>
            <a:ext cx="2194560" cy="457200"/>
          </a:xfrm>
          <a:prstGeom prst="rect">
            <a:avLst/>
          </a:prstGeom>
          <a:noFill/>
          <a:ln/>
        </p:spPr>
        <p:txBody>
          <a:bodyPr wrap="square" lIns="0" tIns="0" rIns="0" bIns="0" rtlCol="0" anchor="ctr"/>
          <a:lstStyle/>
          <a:p>
            <a:pPr indent="0" marL="0">
              <a:buNone/>
            </a:pPr>
            <a:r>
              <a:rPr lang="en-US" sz="1200" b="1" dirty="0">
                <a:solidFill>
                  <a:srgbClr val="EAF0FB"/>
                </a:solidFill>
                <a:latin typeface="Calibri" pitchFamily="34" charset="0"/>
                <a:ea typeface="Calibri" pitchFamily="34" charset="-122"/>
                <a:cs typeface="Calibri" pitchFamily="34" charset="-120"/>
              </a:rPr>
              <a:t>Hardening &amp; assurance</a:t>
            </a:r>
            <a:endParaRPr lang="en-US" sz="1200" dirty="0"/>
          </a:p>
        </p:txBody>
      </p:sp>
      <p:sp>
        <p:nvSpPr>
          <p:cNvPr id="18" name="Text 16"/>
          <p:cNvSpPr/>
          <p:nvPr/>
        </p:nvSpPr>
        <p:spPr>
          <a:xfrm>
            <a:off x="8339328" y="2468880"/>
            <a:ext cx="3108960" cy="3520440"/>
          </a:xfrm>
          <a:prstGeom prst="rect">
            <a:avLst/>
          </a:prstGeom>
          <a:noFill/>
          <a:ln/>
        </p:spPr>
        <p:txBody>
          <a:bodyPr wrap="square" rtlCol="0" anchor="t"/>
          <a:lstStyle/>
          <a:p>
            <a:pPr marL="177800" indent="-177800">
              <a:spcAft>
                <a:spcPts val="1200"/>
              </a:spcAft>
              <a:buSzPct val="100000"/>
              <a:buChar char="•"/>
            </a:pPr>
            <a:r>
              <a:rPr lang="en-US" sz="1250" dirty="0">
                <a:solidFill>
                  <a:srgbClr val="EAF0FB"/>
                </a:solidFill>
                <a:latin typeface="Calibri" pitchFamily="34" charset="0"/>
                <a:ea typeface="Calibri" pitchFamily="34" charset="-122"/>
                <a:cs typeface="Calibri" pitchFamily="34" charset="-120"/>
              </a:rPr>
              <a:t>F-9   Least-privilege DB role for the API</a:t>
            </a:r>
            <a:endParaRPr lang="en-US" sz="1250" dirty="0"/>
          </a:p>
          <a:p>
            <a:pPr marL="177800" indent="-177800">
              <a:spcAft>
                <a:spcPts val="1200"/>
              </a:spcAft>
              <a:buSzPct val="100000"/>
              <a:buChar char="•"/>
            </a:pPr>
            <a:r>
              <a:rPr lang="en-US" sz="1250" dirty="0">
                <a:solidFill>
                  <a:srgbClr val="EAF0FB"/>
                </a:solidFill>
                <a:latin typeface="Calibri" pitchFamily="34" charset="0"/>
                <a:ea typeface="Calibri" pitchFamily="34" charset="-122"/>
                <a:cs typeface="Calibri" pitchFamily="34" charset="-120"/>
              </a:rPr>
              <a:t>F-10  Sanitised errors + centralised logging / alerting</a:t>
            </a:r>
            <a:endParaRPr lang="en-US" sz="1250" dirty="0"/>
          </a:p>
          <a:p>
            <a:pPr marL="177800" indent="-177800">
              <a:spcAft>
                <a:spcPts val="1200"/>
              </a:spcAft>
              <a:buSzPct val="100000"/>
              <a:buChar char="•"/>
            </a:pPr>
            <a:r>
              <a:rPr lang="en-US" sz="1250" dirty="0">
                <a:solidFill>
                  <a:srgbClr val="EAF0FB"/>
                </a:solidFill>
                <a:latin typeface="Calibri" pitchFamily="34" charset="0"/>
                <a:ea typeface="Calibri" pitchFamily="34" charset="-122"/>
                <a:cs typeface="Calibri" pitchFamily="34" charset="-120"/>
              </a:rPr>
              <a:t>F-11  Encryption at rest, data minimisation, tested backups</a:t>
            </a:r>
            <a:endParaRPr lang="en-US" sz="1250" dirty="0"/>
          </a:p>
          <a:p>
            <a:pPr marL="177800" indent="-177800">
              <a:spcAft>
                <a:spcPts val="1200"/>
              </a:spcAft>
              <a:buSzPct val="100000"/>
              <a:buChar char="•"/>
            </a:pPr>
            <a:r>
              <a:rPr lang="en-US" sz="1250" dirty="0">
                <a:solidFill>
                  <a:srgbClr val="EAF0FB"/>
                </a:solidFill>
                <a:latin typeface="Calibri" pitchFamily="34" charset="0"/>
                <a:ea typeface="Calibri" pitchFamily="34" charset="-122"/>
                <a:cs typeface="Calibri" pitchFamily="34" charset="-120"/>
              </a:rPr>
              <a:t>F-12  CI security gates (SAST, dependency &amp; secret scanning)</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524"/>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300" kern="0" dirty="0">
                <a:solidFill>
                  <a:srgbClr val="39C0C8"/>
                </a:solidFill>
                <a:latin typeface="Calibri" pitchFamily="34" charset="0"/>
                <a:ea typeface="Calibri" pitchFamily="34" charset="-122"/>
                <a:cs typeface="Calibri" pitchFamily="34" charset="-120"/>
              </a:rPr>
              <a:t>SECTION 07 · THE ASK</a:t>
            </a:r>
            <a:endParaRPr lang="en-US" sz="1200" dirty="0"/>
          </a:p>
        </p:txBody>
      </p:sp>
      <p:sp>
        <p:nvSpPr>
          <p:cNvPr id="3" name="Text 1"/>
          <p:cNvSpPr/>
          <p:nvPr/>
        </p:nvSpPr>
        <p:spPr>
          <a:xfrm>
            <a:off x="530352" y="658368"/>
            <a:ext cx="11155680" cy="640080"/>
          </a:xfrm>
          <a:prstGeom prst="rect">
            <a:avLst/>
          </a:prstGeom>
          <a:noFill/>
          <a:ln/>
        </p:spPr>
        <p:txBody>
          <a:bodyPr wrap="square" rtlCol="0" anchor="ctr"/>
          <a:lstStyle/>
          <a:p>
            <a:pPr indent="0" marL="0">
              <a:buNone/>
            </a:pPr>
            <a:r>
              <a:rPr lang="en-US" sz="3000" b="1" dirty="0">
                <a:solidFill>
                  <a:srgbClr val="EAF0FB"/>
                </a:solidFill>
                <a:latin typeface="Cambria" pitchFamily="34" charset="0"/>
                <a:ea typeface="Cambria" pitchFamily="34" charset="-122"/>
                <a:cs typeface="Cambria" pitchFamily="34" charset="-120"/>
              </a:rPr>
              <a:t>What the network team should implement</a:t>
            </a:r>
            <a:endParaRPr lang="en-US" sz="3000" dirty="0"/>
          </a:p>
        </p:txBody>
      </p:sp>
      <p:sp>
        <p:nvSpPr>
          <p:cNvPr id="4" name="Text 2"/>
          <p:cNvSpPr/>
          <p:nvPr/>
        </p:nvSpPr>
        <p:spPr>
          <a:xfrm>
            <a:off x="548640" y="1371600"/>
            <a:ext cx="11064240" cy="320040"/>
          </a:xfrm>
          <a:prstGeom prst="rect">
            <a:avLst/>
          </a:prstGeom>
          <a:noFill/>
          <a:ln/>
        </p:spPr>
        <p:txBody>
          <a:bodyPr wrap="square" rtlCol="0" anchor="ctr"/>
          <a:lstStyle/>
          <a:p>
            <a:pPr indent="0" marL="0">
              <a:buNone/>
            </a:pPr>
            <a:r>
              <a:rPr lang="en-US" sz="1300" i="1" dirty="0">
                <a:solidFill>
                  <a:srgbClr val="9AA6BE"/>
                </a:solidFill>
                <a:latin typeface="Calibri" pitchFamily="34" charset="0"/>
                <a:ea typeface="Calibri" pitchFamily="34" charset="-122"/>
                <a:cs typeface="Calibri" pitchFamily="34" charset="-120"/>
              </a:rPr>
              <a:t>App-layer auth is absent today, so these controls are the current line of defence — and remain essential afterwards as defence-in-depth.</a:t>
            </a:r>
            <a:endParaRPr lang="en-US" sz="1300" dirty="0"/>
          </a:p>
        </p:txBody>
      </p:sp>
      <p:sp>
        <p:nvSpPr>
          <p:cNvPr id="5" name="Shape 3"/>
          <p:cNvSpPr/>
          <p:nvPr/>
        </p:nvSpPr>
        <p:spPr>
          <a:xfrm>
            <a:off x="548640" y="1828800"/>
            <a:ext cx="5394960" cy="1261872"/>
          </a:xfrm>
          <a:prstGeom prst="roundRect">
            <a:avLst>
              <a:gd name="adj" fmla="val 7246"/>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6" name="Shape 4"/>
          <p:cNvSpPr/>
          <p:nvPr/>
        </p:nvSpPr>
        <p:spPr>
          <a:xfrm>
            <a:off x="749808" y="2048256"/>
            <a:ext cx="603504" cy="603504"/>
          </a:xfrm>
          <a:prstGeom prst="roundRect">
            <a:avLst>
              <a:gd name="adj" fmla="val 50000"/>
            </a:avLst>
          </a:prstGeom>
          <a:solidFill>
            <a:srgbClr val="2F3C7E"/>
          </a:solidFill>
          <a:ln w="12700">
            <a:solidFill>
              <a:srgbClr val="39C0C8"/>
            </a:solidFill>
            <a:prstDash val="solid"/>
          </a:ln>
        </p:spPr>
      </p:sp>
      <p:sp>
        <p:nvSpPr>
          <p:cNvPr id="7" name="Text 5"/>
          <p:cNvSpPr/>
          <p:nvPr/>
        </p:nvSpPr>
        <p:spPr>
          <a:xfrm>
            <a:off x="749808" y="2048256"/>
            <a:ext cx="603504" cy="603504"/>
          </a:xfrm>
          <a:prstGeom prst="rect">
            <a:avLst/>
          </a:prstGeom>
          <a:noFill/>
          <a:ln/>
        </p:spPr>
        <p:txBody>
          <a:bodyPr wrap="square" lIns="0" tIns="0" rIns="0" bIns="0" rtlCol="0" anchor="ctr"/>
          <a:lstStyle/>
          <a:p>
            <a:pPr algn="ctr" indent="0" marL="0">
              <a:buNone/>
            </a:pPr>
            <a:r>
              <a:rPr lang="en-US" sz="1800" b="1" dirty="0">
                <a:solidFill>
                  <a:srgbClr val="39C0C8"/>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508760" y="1993392"/>
            <a:ext cx="4297680" cy="347472"/>
          </a:xfrm>
          <a:prstGeom prst="rect">
            <a:avLst/>
          </a:prstGeom>
          <a:noFill/>
          <a:ln/>
        </p:spPr>
        <p:txBody>
          <a:bodyPr wrap="square" lIns="0" tIns="0" rIns="0" bIns="0" rtlCol="0" anchor="ctr"/>
          <a:lstStyle/>
          <a:p>
            <a:pPr indent="0" marL="0">
              <a:buNone/>
            </a:pPr>
            <a:r>
              <a:rPr lang="en-US" sz="1550" b="1" dirty="0">
                <a:solidFill>
                  <a:srgbClr val="EAF0FB"/>
                </a:solidFill>
                <a:latin typeface="Cambria" pitchFamily="34" charset="0"/>
                <a:ea typeface="Cambria" pitchFamily="34" charset="-122"/>
                <a:cs typeface="Cambria" pitchFamily="34" charset="-120"/>
              </a:rPr>
              <a:t>Isolate &amp; segment</a:t>
            </a:r>
            <a:endParaRPr lang="en-US" sz="1550" dirty="0"/>
          </a:p>
        </p:txBody>
      </p:sp>
      <p:sp>
        <p:nvSpPr>
          <p:cNvPr id="9" name="Text 7"/>
          <p:cNvSpPr/>
          <p:nvPr/>
        </p:nvSpPr>
        <p:spPr>
          <a:xfrm>
            <a:off x="1508760" y="2331720"/>
            <a:ext cx="4315968" cy="685800"/>
          </a:xfrm>
          <a:prstGeom prst="rect">
            <a:avLst/>
          </a:prstGeom>
          <a:noFill/>
          <a:ln/>
        </p:spPr>
        <p:txBody>
          <a:bodyPr wrap="square" lIns="0" tIns="0" rIns="0" bIns="0" rtlCol="0" anchor="t"/>
          <a:lstStyle/>
          <a:p>
            <a:pPr indent="0" marL="0">
              <a:buNone/>
            </a:pPr>
            <a:r>
              <a:rPr lang="en-US" sz="1150" dirty="0">
                <a:solidFill>
                  <a:srgbClr val="9AA6BE"/>
                </a:solidFill>
                <a:latin typeface="Calibri" pitchFamily="34" charset="0"/>
                <a:ea typeface="Calibri" pitchFamily="34" charset="-122"/>
                <a:cs typeface="Calibri" pitchFamily="34" charset="-120"/>
              </a:rPr>
              <a:t>Keep the API strictly internal — no public ingress. Private network for web↔api↔Supabase; no public route to the database.</a:t>
            </a:r>
            <a:endParaRPr lang="en-US" sz="1150" dirty="0"/>
          </a:p>
        </p:txBody>
      </p:sp>
      <p:sp>
        <p:nvSpPr>
          <p:cNvPr id="10" name="Shape 8"/>
          <p:cNvSpPr/>
          <p:nvPr/>
        </p:nvSpPr>
        <p:spPr>
          <a:xfrm>
            <a:off x="6153912" y="1828800"/>
            <a:ext cx="5394960" cy="1261872"/>
          </a:xfrm>
          <a:prstGeom prst="roundRect">
            <a:avLst>
              <a:gd name="adj" fmla="val 7246"/>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11" name="Shape 9"/>
          <p:cNvSpPr/>
          <p:nvPr/>
        </p:nvSpPr>
        <p:spPr>
          <a:xfrm>
            <a:off x="6355080" y="2048256"/>
            <a:ext cx="603504" cy="603504"/>
          </a:xfrm>
          <a:prstGeom prst="roundRect">
            <a:avLst>
              <a:gd name="adj" fmla="val 50000"/>
            </a:avLst>
          </a:prstGeom>
          <a:solidFill>
            <a:srgbClr val="2F3C7E"/>
          </a:solidFill>
          <a:ln w="12700">
            <a:solidFill>
              <a:srgbClr val="39C0C8"/>
            </a:solidFill>
            <a:prstDash val="solid"/>
          </a:ln>
        </p:spPr>
      </p:sp>
      <p:sp>
        <p:nvSpPr>
          <p:cNvPr id="12" name="Text 10"/>
          <p:cNvSpPr/>
          <p:nvPr/>
        </p:nvSpPr>
        <p:spPr>
          <a:xfrm>
            <a:off x="6355080" y="2048256"/>
            <a:ext cx="603504" cy="603504"/>
          </a:xfrm>
          <a:prstGeom prst="rect">
            <a:avLst/>
          </a:prstGeom>
          <a:noFill/>
          <a:ln/>
        </p:spPr>
        <p:txBody>
          <a:bodyPr wrap="square" lIns="0" tIns="0" rIns="0" bIns="0" rtlCol="0" anchor="ctr"/>
          <a:lstStyle/>
          <a:p>
            <a:pPr algn="ctr" indent="0" marL="0">
              <a:buNone/>
            </a:pPr>
            <a:r>
              <a:rPr lang="en-US" sz="1800" b="1" dirty="0">
                <a:solidFill>
                  <a:srgbClr val="39C0C8"/>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7114032" y="1993392"/>
            <a:ext cx="4297680" cy="347472"/>
          </a:xfrm>
          <a:prstGeom prst="rect">
            <a:avLst/>
          </a:prstGeom>
          <a:noFill/>
          <a:ln/>
        </p:spPr>
        <p:txBody>
          <a:bodyPr wrap="square" lIns="0" tIns="0" rIns="0" bIns="0" rtlCol="0" anchor="ctr"/>
          <a:lstStyle/>
          <a:p>
            <a:pPr indent="0" marL="0">
              <a:buNone/>
            </a:pPr>
            <a:r>
              <a:rPr lang="en-US" sz="1550" b="1" dirty="0">
                <a:solidFill>
                  <a:srgbClr val="EAF0FB"/>
                </a:solidFill>
                <a:latin typeface="Cambria" pitchFamily="34" charset="0"/>
                <a:ea typeface="Cambria" pitchFamily="34" charset="-122"/>
                <a:cs typeface="Cambria" pitchFamily="34" charset="-120"/>
              </a:rPr>
              <a:t>Lock down traffic</a:t>
            </a:r>
            <a:endParaRPr lang="en-US" sz="1550" dirty="0"/>
          </a:p>
        </p:txBody>
      </p:sp>
      <p:sp>
        <p:nvSpPr>
          <p:cNvPr id="14" name="Text 12"/>
          <p:cNvSpPr/>
          <p:nvPr/>
        </p:nvSpPr>
        <p:spPr>
          <a:xfrm>
            <a:off x="7114032" y="2331720"/>
            <a:ext cx="4315968" cy="685800"/>
          </a:xfrm>
          <a:prstGeom prst="rect">
            <a:avLst/>
          </a:prstGeom>
          <a:noFill/>
          <a:ln/>
        </p:spPr>
        <p:txBody>
          <a:bodyPr wrap="square" lIns="0" tIns="0" rIns="0" bIns="0" rtlCol="0" anchor="t"/>
          <a:lstStyle/>
          <a:p>
            <a:pPr indent="0" marL="0">
              <a:buNone/>
            </a:pPr>
            <a:r>
              <a:rPr lang="en-US" sz="1150" dirty="0">
                <a:solidFill>
                  <a:srgbClr val="9AA6BE"/>
                </a:solidFill>
                <a:latin typeface="Calibri" pitchFamily="34" charset="0"/>
                <a:ea typeface="Calibri" pitchFamily="34" charset="-122"/>
                <a:cs typeface="Calibri" pitchFamily="34" charset="-120"/>
              </a:rPr>
              <a:t>Terminate TLS at the edge, force HTTPS + HSTS, TLS 1.2+. Restrict API egress to the Supabase host only.</a:t>
            </a:r>
            <a:endParaRPr lang="en-US" sz="1150" dirty="0"/>
          </a:p>
        </p:txBody>
      </p:sp>
      <p:sp>
        <p:nvSpPr>
          <p:cNvPr id="15" name="Shape 13"/>
          <p:cNvSpPr/>
          <p:nvPr/>
        </p:nvSpPr>
        <p:spPr>
          <a:xfrm>
            <a:off x="548640" y="3246120"/>
            <a:ext cx="5394960" cy="1261872"/>
          </a:xfrm>
          <a:prstGeom prst="roundRect">
            <a:avLst>
              <a:gd name="adj" fmla="val 7246"/>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16" name="Shape 14"/>
          <p:cNvSpPr/>
          <p:nvPr/>
        </p:nvSpPr>
        <p:spPr>
          <a:xfrm>
            <a:off x="749808" y="3465576"/>
            <a:ext cx="603504" cy="603504"/>
          </a:xfrm>
          <a:prstGeom prst="roundRect">
            <a:avLst>
              <a:gd name="adj" fmla="val 50000"/>
            </a:avLst>
          </a:prstGeom>
          <a:solidFill>
            <a:srgbClr val="2F3C7E"/>
          </a:solidFill>
          <a:ln w="12700">
            <a:solidFill>
              <a:srgbClr val="39C0C8"/>
            </a:solidFill>
            <a:prstDash val="solid"/>
          </a:ln>
        </p:spPr>
      </p:sp>
      <p:sp>
        <p:nvSpPr>
          <p:cNvPr id="17" name="Text 15"/>
          <p:cNvSpPr/>
          <p:nvPr/>
        </p:nvSpPr>
        <p:spPr>
          <a:xfrm>
            <a:off x="749808" y="3465576"/>
            <a:ext cx="603504" cy="603504"/>
          </a:xfrm>
          <a:prstGeom prst="rect">
            <a:avLst/>
          </a:prstGeom>
          <a:noFill/>
          <a:ln/>
        </p:spPr>
        <p:txBody>
          <a:bodyPr wrap="square" lIns="0" tIns="0" rIns="0" bIns="0" rtlCol="0" anchor="ctr"/>
          <a:lstStyle/>
          <a:p>
            <a:pPr algn="ctr" indent="0" marL="0">
              <a:buNone/>
            </a:pPr>
            <a:r>
              <a:rPr lang="en-US" sz="1800" b="1" dirty="0">
                <a:solidFill>
                  <a:srgbClr val="39C0C8"/>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1508760" y="3410712"/>
            <a:ext cx="4297680" cy="347472"/>
          </a:xfrm>
          <a:prstGeom prst="rect">
            <a:avLst/>
          </a:prstGeom>
          <a:noFill/>
          <a:ln/>
        </p:spPr>
        <p:txBody>
          <a:bodyPr wrap="square" lIns="0" tIns="0" rIns="0" bIns="0" rtlCol="0" anchor="ctr"/>
          <a:lstStyle/>
          <a:p>
            <a:pPr indent="0" marL="0">
              <a:buNone/>
            </a:pPr>
            <a:r>
              <a:rPr lang="en-US" sz="1550" b="1" dirty="0">
                <a:solidFill>
                  <a:srgbClr val="EAF0FB"/>
                </a:solidFill>
                <a:latin typeface="Cambria" pitchFamily="34" charset="0"/>
                <a:ea typeface="Cambria" pitchFamily="34" charset="-122"/>
                <a:cs typeface="Cambria" pitchFamily="34" charset="-120"/>
              </a:rPr>
              <a:t>WAF &amp; rate limiting</a:t>
            </a:r>
            <a:endParaRPr lang="en-US" sz="1550" dirty="0"/>
          </a:p>
        </p:txBody>
      </p:sp>
      <p:sp>
        <p:nvSpPr>
          <p:cNvPr id="19" name="Text 17"/>
          <p:cNvSpPr/>
          <p:nvPr/>
        </p:nvSpPr>
        <p:spPr>
          <a:xfrm>
            <a:off x="1508760" y="3749040"/>
            <a:ext cx="4315968" cy="685800"/>
          </a:xfrm>
          <a:prstGeom prst="rect">
            <a:avLst/>
          </a:prstGeom>
          <a:noFill/>
          <a:ln/>
        </p:spPr>
        <p:txBody>
          <a:bodyPr wrap="square" lIns="0" tIns="0" rIns="0" bIns="0" rtlCol="0" anchor="t"/>
          <a:lstStyle/>
          <a:p>
            <a:pPr indent="0" marL="0">
              <a:buNone/>
            </a:pPr>
            <a:r>
              <a:rPr lang="en-US" sz="1150" dirty="0">
                <a:solidFill>
                  <a:srgbClr val="9AA6BE"/>
                </a:solidFill>
                <a:latin typeface="Calibri" pitchFamily="34" charset="0"/>
                <a:ea typeface="Calibri" pitchFamily="34" charset="-122"/>
                <a:cs typeface="Calibri" pitchFamily="34" charset="-120"/>
              </a:rPr>
              <a:t>Reverse-proxy / edge WAF, request throttling, DDoS protection, IP allow-listing for admin surfaces.</a:t>
            </a:r>
            <a:endParaRPr lang="en-US" sz="1150" dirty="0"/>
          </a:p>
        </p:txBody>
      </p:sp>
      <p:sp>
        <p:nvSpPr>
          <p:cNvPr id="20" name="Shape 18"/>
          <p:cNvSpPr/>
          <p:nvPr/>
        </p:nvSpPr>
        <p:spPr>
          <a:xfrm>
            <a:off x="6153912" y="3246120"/>
            <a:ext cx="5394960" cy="1261872"/>
          </a:xfrm>
          <a:prstGeom prst="roundRect">
            <a:avLst>
              <a:gd name="adj" fmla="val 7246"/>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21" name="Shape 19"/>
          <p:cNvSpPr/>
          <p:nvPr/>
        </p:nvSpPr>
        <p:spPr>
          <a:xfrm>
            <a:off x="6355080" y="3465576"/>
            <a:ext cx="603504" cy="603504"/>
          </a:xfrm>
          <a:prstGeom prst="roundRect">
            <a:avLst>
              <a:gd name="adj" fmla="val 50000"/>
            </a:avLst>
          </a:prstGeom>
          <a:solidFill>
            <a:srgbClr val="2F3C7E"/>
          </a:solidFill>
          <a:ln w="12700">
            <a:solidFill>
              <a:srgbClr val="39C0C8"/>
            </a:solidFill>
            <a:prstDash val="solid"/>
          </a:ln>
        </p:spPr>
      </p:sp>
      <p:sp>
        <p:nvSpPr>
          <p:cNvPr id="22" name="Text 20"/>
          <p:cNvSpPr/>
          <p:nvPr/>
        </p:nvSpPr>
        <p:spPr>
          <a:xfrm>
            <a:off x="6355080" y="3465576"/>
            <a:ext cx="603504" cy="603504"/>
          </a:xfrm>
          <a:prstGeom prst="rect">
            <a:avLst/>
          </a:prstGeom>
          <a:noFill/>
          <a:ln/>
        </p:spPr>
        <p:txBody>
          <a:bodyPr wrap="square" lIns="0" tIns="0" rIns="0" bIns="0" rtlCol="0" anchor="ctr"/>
          <a:lstStyle/>
          <a:p>
            <a:pPr algn="ctr" indent="0" marL="0">
              <a:buNone/>
            </a:pPr>
            <a:r>
              <a:rPr lang="en-US" sz="1800" b="1" dirty="0">
                <a:solidFill>
                  <a:srgbClr val="39C0C8"/>
                </a:solidFill>
                <a:latin typeface="Cambria" pitchFamily="34" charset="0"/>
                <a:ea typeface="Cambria" pitchFamily="34" charset="-122"/>
                <a:cs typeface="Cambria" pitchFamily="34" charset="-120"/>
              </a:rPr>
              <a:t>4</a:t>
            </a:r>
            <a:endParaRPr lang="en-US" sz="1800" dirty="0"/>
          </a:p>
        </p:txBody>
      </p:sp>
      <p:sp>
        <p:nvSpPr>
          <p:cNvPr id="23" name="Text 21"/>
          <p:cNvSpPr/>
          <p:nvPr/>
        </p:nvSpPr>
        <p:spPr>
          <a:xfrm>
            <a:off x="7114032" y="3410712"/>
            <a:ext cx="4297680" cy="347472"/>
          </a:xfrm>
          <a:prstGeom prst="rect">
            <a:avLst/>
          </a:prstGeom>
          <a:noFill/>
          <a:ln/>
        </p:spPr>
        <p:txBody>
          <a:bodyPr wrap="square" lIns="0" tIns="0" rIns="0" bIns="0" rtlCol="0" anchor="ctr"/>
          <a:lstStyle/>
          <a:p>
            <a:pPr indent="0" marL="0">
              <a:buNone/>
            </a:pPr>
            <a:r>
              <a:rPr lang="en-US" sz="1550" b="1" dirty="0">
                <a:solidFill>
                  <a:srgbClr val="EAF0FB"/>
                </a:solidFill>
                <a:latin typeface="Cambria" pitchFamily="34" charset="0"/>
                <a:ea typeface="Cambria" pitchFamily="34" charset="-122"/>
                <a:cs typeface="Cambria" pitchFamily="34" charset="-120"/>
              </a:rPr>
              <a:t>Secrets &amp; keys</a:t>
            </a:r>
            <a:endParaRPr lang="en-US" sz="1550" dirty="0"/>
          </a:p>
        </p:txBody>
      </p:sp>
      <p:sp>
        <p:nvSpPr>
          <p:cNvPr id="24" name="Text 22"/>
          <p:cNvSpPr/>
          <p:nvPr/>
        </p:nvSpPr>
        <p:spPr>
          <a:xfrm>
            <a:off x="7114032" y="3749040"/>
            <a:ext cx="4315968" cy="685800"/>
          </a:xfrm>
          <a:prstGeom prst="rect">
            <a:avLst/>
          </a:prstGeom>
          <a:noFill/>
          <a:ln/>
        </p:spPr>
        <p:txBody>
          <a:bodyPr wrap="square" lIns="0" tIns="0" rIns="0" bIns="0" rtlCol="0" anchor="t"/>
          <a:lstStyle/>
          <a:p>
            <a:pPr indent="0" marL="0">
              <a:buNone/>
            </a:pPr>
            <a:r>
              <a:rPr lang="en-US" sz="1150" dirty="0">
                <a:solidFill>
                  <a:srgbClr val="9AA6BE"/>
                </a:solidFill>
                <a:latin typeface="Calibri" pitchFamily="34" charset="0"/>
                <a:ea typeface="Calibri" pitchFamily="34" charset="-122"/>
                <a:cs typeface="Calibri" pitchFamily="34" charset="-120"/>
              </a:rPr>
              <a:t>Managed vault; rotate the leaked anon key now; scoped, short-lived tokens; never bake keys into images.</a:t>
            </a:r>
            <a:endParaRPr lang="en-US" sz="1150" dirty="0"/>
          </a:p>
        </p:txBody>
      </p:sp>
      <p:sp>
        <p:nvSpPr>
          <p:cNvPr id="25" name="Shape 23"/>
          <p:cNvSpPr/>
          <p:nvPr/>
        </p:nvSpPr>
        <p:spPr>
          <a:xfrm>
            <a:off x="548640" y="4663440"/>
            <a:ext cx="5394960" cy="1261872"/>
          </a:xfrm>
          <a:prstGeom prst="roundRect">
            <a:avLst>
              <a:gd name="adj" fmla="val 7246"/>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26" name="Shape 24"/>
          <p:cNvSpPr/>
          <p:nvPr/>
        </p:nvSpPr>
        <p:spPr>
          <a:xfrm>
            <a:off x="749808" y="4882896"/>
            <a:ext cx="603504" cy="603504"/>
          </a:xfrm>
          <a:prstGeom prst="roundRect">
            <a:avLst>
              <a:gd name="adj" fmla="val 50000"/>
            </a:avLst>
          </a:prstGeom>
          <a:solidFill>
            <a:srgbClr val="2F3C7E"/>
          </a:solidFill>
          <a:ln w="12700">
            <a:solidFill>
              <a:srgbClr val="39C0C8"/>
            </a:solidFill>
            <a:prstDash val="solid"/>
          </a:ln>
        </p:spPr>
      </p:sp>
      <p:sp>
        <p:nvSpPr>
          <p:cNvPr id="27" name="Text 25"/>
          <p:cNvSpPr/>
          <p:nvPr/>
        </p:nvSpPr>
        <p:spPr>
          <a:xfrm>
            <a:off x="749808" y="4882896"/>
            <a:ext cx="603504" cy="603504"/>
          </a:xfrm>
          <a:prstGeom prst="rect">
            <a:avLst/>
          </a:prstGeom>
          <a:noFill/>
          <a:ln/>
        </p:spPr>
        <p:txBody>
          <a:bodyPr wrap="square" lIns="0" tIns="0" rIns="0" bIns="0" rtlCol="0" anchor="ctr"/>
          <a:lstStyle/>
          <a:p>
            <a:pPr algn="ctr" indent="0" marL="0">
              <a:buNone/>
            </a:pPr>
            <a:r>
              <a:rPr lang="en-US" sz="1800" b="1" dirty="0">
                <a:solidFill>
                  <a:srgbClr val="39C0C8"/>
                </a:solidFill>
                <a:latin typeface="Cambria" pitchFamily="34" charset="0"/>
                <a:ea typeface="Cambria" pitchFamily="34" charset="-122"/>
                <a:cs typeface="Cambria" pitchFamily="34" charset="-120"/>
              </a:rPr>
              <a:t>5</a:t>
            </a:r>
            <a:endParaRPr lang="en-US" sz="1800" dirty="0"/>
          </a:p>
        </p:txBody>
      </p:sp>
      <p:sp>
        <p:nvSpPr>
          <p:cNvPr id="28" name="Text 26"/>
          <p:cNvSpPr/>
          <p:nvPr/>
        </p:nvSpPr>
        <p:spPr>
          <a:xfrm>
            <a:off x="1508760" y="4828032"/>
            <a:ext cx="4297680" cy="347472"/>
          </a:xfrm>
          <a:prstGeom prst="rect">
            <a:avLst/>
          </a:prstGeom>
          <a:noFill/>
          <a:ln/>
        </p:spPr>
        <p:txBody>
          <a:bodyPr wrap="square" lIns="0" tIns="0" rIns="0" bIns="0" rtlCol="0" anchor="ctr"/>
          <a:lstStyle/>
          <a:p>
            <a:pPr indent="0" marL="0">
              <a:buNone/>
            </a:pPr>
            <a:r>
              <a:rPr lang="en-US" sz="1550" b="1" dirty="0">
                <a:solidFill>
                  <a:srgbClr val="EAF0FB"/>
                </a:solidFill>
                <a:latin typeface="Cambria" pitchFamily="34" charset="0"/>
                <a:ea typeface="Cambria" pitchFamily="34" charset="-122"/>
                <a:cs typeface="Cambria" pitchFamily="34" charset="-120"/>
              </a:rPr>
              <a:t>Monitoring / SIEM</a:t>
            </a:r>
            <a:endParaRPr lang="en-US" sz="1550" dirty="0"/>
          </a:p>
        </p:txBody>
      </p:sp>
      <p:sp>
        <p:nvSpPr>
          <p:cNvPr id="29" name="Text 27"/>
          <p:cNvSpPr/>
          <p:nvPr/>
        </p:nvSpPr>
        <p:spPr>
          <a:xfrm>
            <a:off x="1508760" y="5166360"/>
            <a:ext cx="4315968" cy="685800"/>
          </a:xfrm>
          <a:prstGeom prst="rect">
            <a:avLst/>
          </a:prstGeom>
          <a:noFill/>
          <a:ln/>
        </p:spPr>
        <p:txBody>
          <a:bodyPr wrap="square" lIns="0" tIns="0" rIns="0" bIns="0" rtlCol="0" anchor="t"/>
          <a:lstStyle/>
          <a:p>
            <a:pPr indent="0" marL="0">
              <a:buNone/>
            </a:pPr>
            <a:r>
              <a:rPr lang="en-US" sz="1150" dirty="0">
                <a:solidFill>
                  <a:srgbClr val="9AA6BE"/>
                </a:solidFill>
                <a:latin typeface="Calibri" pitchFamily="34" charset="0"/>
                <a:ea typeface="Calibri" pitchFamily="34" charset="-122"/>
                <a:cs typeface="Calibri" pitchFamily="34" charset="-120"/>
              </a:rPr>
              <a:t>Central logging; alert on 4xx/5xx spikes, auth failures, and audit-chain breaks. No PII in logs.</a:t>
            </a:r>
            <a:endParaRPr lang="en-US" sz="1150" dirty="0"/>
          </a:p>
        </p:txBody>
      </p:sp>
      <p:sp>
        <p:nvSpPr>
          <p:cNvPr id="30" name="Shape 28"/>
          <p:cNvSpPr/>
          <p:nvPr/>
        </p:nvSpPr>
        <p:spPr>
          <a:xfrm>
            <a:off x="6153912" y="4663440"/>
            <a:ext cx="5394960" cy="1261872"/>
          </a:xfrm>
          <a:prstGeom prst="roundRect">
            <a:avLst>
              <a:gd name="adj" fmla="val 7246"/>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31" name="Shape 29"/>
          <p:cNvSpPr/>
          <p:nvPr/>
        </p:nvSpPr>
        <p:spPr>
          <a:xfrm>
            <a:off x="6355080" y="4882896"/>
            <a:ext cx="603504" cy="603504"/>
          </a:xfrm>
          <a:prstGeom prst="roundRect">
            <a:avLst>
              <a:gd name="adj" fmla="val 50000"/>
            </a:avLst>
          </a:prstGeom>
          <a:solidFill>
            <a:srgbClr val="2F3C7E"/>
          </a:solidFill>
          <a:ln w="12700">
            <a:solidFill>
              <a:srgbClr val="39C0C8"/>
            </a:solidFill>
            <a:prstDash val="solid"/>
          </a:ln>
        </p:spPr>
      </p:sp>
      <p:sp>
        <p:nvSpPr>
          <p:cNvPr id="32" name="Text 30"/>
          <p:cNvSpPr/>
          <p:nvPr/>
        </p:nvSpPr>
        <p:spPr>
          <a:xfrm>
            <a:off x="6355080" y="4882896"/>
            <a:ext cx="603504" cy="603504"/>
          </a:xfrm>
          <a:prstGeom prst="rect">
            <a:avLst/>
          </a:prstGeom>
          <a:noFill/>
          <a:ln/>
        </p:spPr>
        <p:txBody>
          <a:bodyPr wrap="square" lIns="0" tIns="0" rIns="0" bIns="0" rtlCol="0" anchor="ctr"/>
          <a:lstStyle/>
          <a:p>
            <a:pPr algn="ctr" indent="0" marL="0">
              <a:buNone/>
            </a:pPr>
            <a:r>
              <a:rPr lang="en-US" sz="1800" b="1" dirty="0">
                <a:solidFill>
                  <a:srgbClr val="39C0C8"/>
                </a:solidFill>
                <a:latin typeface="Cambria" pitchFamily="34" charset="0"/>
                <a:ea typeface="Cambria" pitchFamily="34" charset="-122"/>
                <a:cs typeface="Cambria" pitchFamily="34" charset="-120"/>
              </a:rPr>
              <a:t>6</a:t>
            </a:r>
            <a:endParaRPr lang="en-US" sz="1800" dirty="0"/>
          </a:p>
        </p:txBody>
      </p:sp>
      <p:sp>
        <p:nvSpPr>
          <p:cNvPr id="33" name="Text 31"/>
          <p:cNvSpPr/>
          <p:nvPr/>
        </p:nvSpPr>
        <p:spPr>
          <a:xfrm>
            <a:off x="7114032" y="4828032"/>
            <a:ext cx="4297680" cy="347472"/>
          </a:xfrm>
          <a:prstGeom prst="rect">
            <a:avLst/>
          </a:prstGeom>
          <a:noFill/>
          <a:ln/>
        </p:spPr>
        <p:txBody>
          <a:bodyPr wrap="square" lIns="0" tIns="0" rIns="0" bIns="0" rtlCol="0" anchor="ctr"/>
          <a:lstStyle/>
          <a:p>
            <a:pPr indent="0" marL="0">
              <a:buNone/>
            </a:pPr>
            <a:r>
              <a:rPr lang="en-US" sz="1550" b="1" dirty="0">
                <a:solidFill>
                  <a:srgbClr val="EAF0FB"/>
                </a:solidFill>
                <a:latin typeface="Cambria" pitchFamily="34" charset="0"/>
                <a:ea typeface="Cambria" pitchFamily="34" charset="-122"/>
                <a:cs typeface="Cambria" pitchFamily="34" charset="-120"/>
              </a:rPr>
              <a:t>Management plane</a:t>
            </a:r>
            <a:endParaRPr lang="en-US" sz="1550" dirty="0"/>
          </a:p>
        </p:txBody>
      </p:sp>
      <p:sp>
        <p:nvSpPr>
          <p:cNvPr id="34" name="Text 32"/>
          <p:cNvSpPr/>
          <p:nvPr/>
        </p:nvSpPr>
        <p:spPr>
          <a:xfrm>
            <a:off x="7114032" y="5166360"/>
            <a:ext cx="4315968" cy="685800"/>
          </a:xfrm>
          <a:prstGeom prst="rect">
            <a:avLst/>
          </a:prstGeom>
          <a:noFill/>
          <a:ln/>
        </p:spPr>
        <p:txBody>
          <a:bodyPr wrap="square" lIns="0" tIns="0" rIns="0" bIns="0" rtlCol="0" anchor="t"/>
          <a:lstStyle/>
          <a:p>
            <a:pPr indent="0" marL="0">
              <a:buNone/>
            </a:pPr>
            <a:r>
              <a:rPr lang="en-US" sz="1150" dirty="0">
                <a:solidFill>
                  <a:srgbClr val="9AA6BE"/>
                </a:solidFill>
                <a:latin typeface="Calibri" pitchFamily="34" charset="0"/>
                <a:ea typeface="Calibri" pitchFamily="34" charset="-122"/>
                <a:cs typeface="Calibri" pitchFamily="34" charset="-120"/>
              </a:rPr>
              <a:t>MFA on Coolify, Supabase &amp; GitHub; VPN/bastion access; least-privilege admin; offsite immutable backups.</a:t>
            </a:r>
            <a:endParaRPr lang="en-US" sz="1150" dirty="0"/>
          </a:p>
        </p:txBody>
      </p:sp>
      <p:sp>
        <p:nvSpPr>
          <p:cNvPr id="35" name="Text 33"/>
          <p:cNvSpPr/>
          <p:nvPr/>
        </p:nvSpPr>
        <p:spPr>
          <a:xfrm>
            <a:off x="548640" y="6263640"/>
            <a:ext cx="11064240" cy="274320"/>
          </a:xfrm>
          <a:prstGeom prst="rect">
            <a:avLst/>
          </a:prstGeom>
          <a:noFill/>
          <a:ln/>
        </p:spPr>
        <p:txBody>
          <a:bodyPr wrap="square" rtlCol="0" anchor="ctr"/>
          <a:lstStyle/>
          <a:p>
            <a:pPr indent="0" marL="0">
              <a:buNone/>
            </a:pPr>
            <a:r>
              <a:rPr lang="en-US" sz="1150" i="1" dirty="0">
                <a:solidFill>
                  <a:srgbClr val="6E7A93"/>
                </a:solidFill>
                <a:latin typeface="Calibri" pitchFamily="34" charset="0"/>
                <a:ea typeface="Calibri" pitchFamily="34" charset="-122"/>
                <a:cs typeface="Calibri" pitchFamily="34" charset="-120"/>
              </a:rPr>
              <a:t>These reduce blast radius — they do not replace server-side authentication (F-1–F-4). Both layers are required.</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524"/>
        </a:solidFill>
      </p:bgPr>
    </p:bg>
    <p:spTree>
      <p:nvGrpSpPr>
        <p:cNvPr id="1" name=""/>
        <p:cNvGrpSpPr/>
        <p:nvPr/>
      </p:nvGrpSpPr>
      <p:grpSpPr>
        <a:xfrm>
          <a:off x="0" y="0"/>
          <a:ext cx="0" cy="0"/>
          <a:chOff x="0" y="0"/>
          <a:chExt cx="0" cy="0"/>
        </a:xfrm>
      </p:grpSpPr>
      <p:sp>
        <p:nvSpPr>
          <p:cNvPr id="2" name="Shape 0"/>
          <p:cNvSpPr/>
          <p:nvPr/>
        </p:nvSpPr>
        <p:spPr>
          <a:xfrm>
            <a:off x="9692640" y="-1280160"/>
            <a:ext cx="3108960" cy="3108960"/>
          </a:xfrm>
          <a:prstGeom prst="roundRect">
            <a:avLst>
              <a:gd name="adj" fmla="val 50000"/>
            </a:avLst>
          </a:prstGeom>
          <a:solidFill>
            <a:srgbClr val="3FB27F">
              <a:alpha val="20000"/>
            </a:srgbClr>
          </a:solidFill>
          <a:ln/>
        </p:spPr>
      </p:sp>
      <p:sp>
        <p:nvSpPr>
          <p:cNvPr id="3" name="Text 1"/>
          <p:cNvSpPr/>
          <p:nvPr/>
        </p:nvSpPr>
        <p:spPr>
          <a:xfrm>
            <a:off x="548640" y="384048"/>
            <a:ext cx="10972800" cy="274320"/>
          </a:xfrm>
          <a:prstGeom prst="rect">
            <a:avLst/>
          </a:prstGeom>
          <a:noFill/>
          <a:ln/>
        </p:spPr>
        <p:txBody>
          <a:bodyPr wrap="square" rtlCol="0" anchor="ctr"/>
          <a:lstStyle/>
          <a:p>
            <a:pPr indent="0" marL="0">
              <a:buNone/>
            </a:pPr>
            <a:r>
              <a:rPr lang="en-US" sz="1200" b="1" spc="300" kern="0" dirty="0">
                <a:solidFill>
                  <a:srgbClr val="39C0C8"/>
                </a:solidFill>
                <a:latin typeface="Calibri" pitchFamily="34" charset="0"/>
                <a:ea typeface="Calibri" pitchFamily="34" charset="-122"/>
                <a:cs typeface="Calibri" pitchFamily="34" charset="-120"/>
              </a:rPr>
              <a:t>SECTION 08 · CONCLUSION</a:t>
            </a:r>
            <a:endParaRPr lang="en-US" sz="1200" dirty="0"/>
          </a:p>
        </p:txBody>
      </p:sp>
      <p:sp>
        <p:nvSpPr>
          <p:cNvPr id="4" name="Text 2"/>
          <p:cNvSpPr/>
          <p:nvPr/>
        </p:nvSpPr>
        <p:spPr>
          <a:xfrm>
            <a:off x="530352" y="658368"/>
            <a:ext cx="11155680" cy="640080"/>
          </a:xfrm>
          <a:prstGeom prst="rect">
            <a:avLst/>
          </a:prstGeom>
          <a:noFill/>
          <a:ln/>
        </p:spPr>
        <p:txBody>
          <a:bodyPr wrap="square" rtlCol="0" anchor="ctr"/>
          <a:lstStyle/>
          <a:p>
            <a:pPr indent="0" marL="0">
              <a:buNone/>
            </a:pPr>
            <a:r>
              <a:rPr lang="en-US" sz="3000" b="1" dirty="0">
                <a:solidFill>
                  <a:srgbClr val="EAF0FB"/>
                </a:solidFill>
                <a:latin typeface="Cambria" pitchFamily="34" charset="0"/>
                <a:ea typeface="Cambria" pitchFamily="34" charset="-122"/>
                <a:cs typeface="Cambria" pitchFamily="34" charset="-120"/>
              </a:rPr>
              <a:t>The path to secure</a:t>
            </a:r>
            <a:endParaRPr lang="en-US" sz="3000" dirty="0"/>
          </a:p>
        </p:txBody>
      </p:sp>
      <p:sp>
        <p:nvSpPr>
          <p:cNvPr id="5" name="Shape 3"/>
          <p:cNvSpPr/>
          <p:nvPr/>
        </p:nvSpPr>
        <p:spPr>
          <a:xfrm>
            <a:off x="548640" y="1828800"/>
            <a:ext cx="2606040" cy="2468880"/>
          </a:xfrm>
          <a:prstGeom prst="roundRect">
            <a:avLst>
              <a:gd name="adj" fmla="val 3704"/>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6" name="Text 4"/>
          <p:cNvSpPr/>
          <p:nvPr/>
        </p:nvSpPr>
        <p:spPr>
          <a:xfrm>
            <a:off x="731520" y="2011680"/>
            <a:ext cx="2286000" cy="274320"/>
          </a:xfrm>
          <a:prstGeom prst="rect">
            <a:avLst/>
          </a:prstGeom>
          <a:noFill/>
          <a:ln/>
        </p:spPr>
        <p:txBody>
          <a:bodyPr wrap="square" rtlCol="0" anchor="ctr"/>
          <a:lstStyle/>
          <a:p>
            <a:pPr indent="0" marL="0">
              <a:buNone/>
            </a:pPr>
            <a:r>
              <a:rPr lang="en-US" sz="1100" b="1" spc="200" kern="0" dirty="0">
                <a:solidFill>
                  <a:srgbClr val="E23A4E"/>
                </a:solidFill>
                <a:latin typeface="Calibri" pitchFamily="34" charset="0"/>
                <a:ea typeface="Calibri" pitchFamily="34" charset="-122"/>
                <a:cs typeface="Calibri" pitchFamily="34" charset="-120"/>
              </a:rPr>
              <a:t>NOW</a:t>
            </a:r>
            <a:endParaRPr lang="en-US" sz="1100" dirty="0"/>
          </a:p>
        </p:txBody>
      </p:sp>
      <p:sp>
        <p:nvSpPr>
          <p:cNvPr id="7" name="Text 5"/>
          <p:cNvSpPr/>
          <p:nvPr/>
        </p:nvSpPr>
        <p:spPr>
          <a:xfrm>
            <a:off x="731520" y="2331720"/>
            <a:ext cx="2286000" cy="685800"/>
          </a:xfrm>
          <a:prstGeom prst="rect">
            <a:avLst/>
          </a:prstGeom>
          <a:noFill/>
          <a:ln/>
        </p:spPr>
        <p:txBody>
          <a:bodyPr wrap="square" lIns="0" tIns="0" rIns="0" bIns="0" rtlCol="0" anchor="t"/>
          <a:lstStyle/>
          <a:p>
            <a:pPr indent="0" marL="0">
              <a:buNone/>
            </a:pPr>
            <a:r>
              <a:rPr lang="en-US" sz="1700" b="1" dirty="0">
                <a:solidFill>
                  <a:srgbClr val="EAF0FB"/>
                </a:solidFill>
                <a:latin typeface="Cambria" pitchFamily="34" charset="0"/>
                <a:ea typeface="Cambria" pitchFamily="34" charset="-122"/>
                <a:cs typeface="Cambria" pitchFamily="34" charset="-120"/>
              </a:rPr>
              <a:t>Level 1 — Critical</a:t>
            </a:r>
            <a:endParaRPr lang="en-US" sz="1700" dirty="0"/>
          </a:p>
        </p:txBody>
      </p:sp>
      <p:sp>
        <p:nvSpPr>
          <p:cNvPr id="8" name="Text 6"/>
          <p:cNvSpPr/>
          <p:nvPr/>
        </p:nvSpPr>
        <p:spPr>
          <a:xfrm>
            <a:off x="731520" y="3200400"/>
            <a:ext cx="2286000" cy="914400"/>
          </a:xfrm>
          <a:prstGeom prst="rect">
            <a:avLst/>
          </a:prstGeom>
          <a:noFill/>
          <a:ln/>
        </p:spPr>
        <p:txBody>
          <a:bodyPr wrap="square" lIns="0" tIns="0" rIns="0" bIns="0" rtlCol="0" anchor="t"/>
          <a:lstStyle/>
          <a:p>
            <a:pPr indent="0" marL="0">
              <a:buNone/>
            </a:pPr>
            <a:r>
              <a:rPr lang="en-US" sz="1200" dirty="0">
                <a:solidFill>
                  <a:srgbClr val="9AA6BE"/>
                </a:solidFill>
                <a:latin typeface="Calibri" pitchFamily="34" charset="0"/>
                <a:ea typeface="Calibri" pitchFamily="34" charset="-122"/>
                <a:cs typeface="Calibri" pitchFamily="34" charset="-120"/>
              </a:rPr>
              <a:t>Freeze real data. Treat as prototype.</a:t>
            </a:r>
            <a:endParaRPr lang="en-US" sz="1200" dirty="0"/>
          </a:p>
        </p:txBody>
      </p:sp>
      <p:sp>
        <p:nvSpPr>
          <p:cNvPr id="9" name="Text 7"/>
          <p:cNvSpPr/>
          <p:nvPr/>
        </p:nvSpPr>
        <p:spPr>
          <a:xfrm>
            <a:off x="3090672" y="2651760"/>
            <a:ext cx="457200" cy="548640"/>
          </a:xfrm>
          <a:prstGeom prst="rect">
            <a:avLst/>
          </a:prstGeom>
          <a:noFill/>
          <a:ln/>
        </p:spPr>
        <p:txBody>
          <a:bodyPr wrap="square" rtlCol="0" anchor="ctr"/>
          <a:lstStyle/>
          <a:p>
            <a:pPr algn="ctr" indent="0" marL="0">
              <a:buNone/>
            </a:pPr>
            <a:r>
              <a:rPr lang="en-US" sz="2600" b="1" dirty="0">
                <a:solidFill>
                  <a:srgbClr val="5C6784"/>
                </a:solidFill>
                <a:latin typeface="Calibri" pitchFamily="34" charset="0"/>
                <a:ea typeface="Calibri" pitchFamily="34" charset="-122"/>
                <a:cs typeface="Calibri" pitchFamily="34" charset="-120"/>
              </a:rPr>
              <a:t>→</a:t>
            </a:r>
            <a:endParaRPr lang="en-US" sz="2600" dirty="0"/>
          </a:p>
        </p:txBody>
      </p:sp>
      <p:sp>
        <p:nvSpPr>
          <p:cNvPr id="10" name="Shape 8"/>
          <p:cNvSpPr/>
          <p:nvPr/>
        </p:nvSpPr>
        <p:spPr>
          <a:xfrm>
            <a:off x="3364992" y="1828800"/>
            <a:ext cx="2606040" cy="2468880"/>
          </a:xfrm>
          <a:prstGeom prst="roundRect">
            <a:avLst>
              <a:gd name="adj" fmla="val 3704"/>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11" name="Text 9"/>
          <p:cNvSpPr/>
          <p:nvPr/>
        </p:nvSpPr>
        <p:spPr>
          <a:xfrm>
            <a:off x="3547872" y="2011680"/>
            <a:ext cx="2286000" cy="274320"/>
          </a:xfrm>
          <a:prstGeom prst="rect">
            <a:avLst/>
          </a:prstGeom>
          <a:noFill/>
          <a:ln/>
        </p:spPr>
        <p:txBody>
          <a:bodyPr wrap="square" rtlCol="0" anchor="ctr"/>
          <a:lstStyle/>
          <a:p>
            <a:pPr indent="0" marL="0">
              <a:buNone/>
            </a:pPr>
            <a:r>
              <a:rPr lang="en-US" sz="1100" b="1" spc="200" kern="0" dirty="0">
                <a:solidFill>
                  <a:srgbClr val="E8912B"/>
                </a:solidFill>
                <a:latin typeface="Calibri" pitchFamily="34" charset="0"/>
                <a:ea typeface="Calibri" pitchFamily="34" charset="-122"/>
                <a:cs typeface="Calibri" pitchFamily="34" charset="-120"/>
              </a:rPr>
              <a:t>STEP 1</a:t>
            </a:r>
            <a:endParaRPr lang="en-US" sz="1100" dirty="0"/>
          </a:p>
        </p:txBody>
      </p:sp>
      <p:sp>
        <p:nvSpPr>
          <p:cNvPr id="12" name="Text 10"/>
          <p:cNvSpPr/>
          <p:nvPr/>
        </p:nvSpPr>
        <p:spPr>
          <a:xfrm>
            <a:off x="3547872" y="2331720"/>
            <a:ext cx="2286000" cy="685800"/>
          </a:xfrm>
          <a:prstGeom prst="rect">
            <a:avLst/>
          </a:prstGeom>
          <a:noFill/>
          <a:ln/>
        </p:spPr>
        <p:txBody>
          <a:bodyPr wrap="square" lIns="0" tIns="0" rIns="0" bIns="0" rtlCol="0" anchor="t"/>
          <a:lstStyle/>
          <a:p>
            <a:pPr indent="0" marL="0">
              <a:buNone/>
            </a:pPr>
            <a:r>
              <a:rPr lang="en-US" sz="1700" b="1" dirty="0">
                <a:solidFill>
                  <a:srgbClr val="EAF0FB"/>
                </a:solidFill>
                <a:latin typeface="Cambria" pitchFamily="34" charset="0"/>
                <a:ea typeface="Cambria" pitchFamily="34" charset="-122"/>
                <a:cs typeface="Cambria" pitchFamily="34" charset="-120"/>
              </a:rPr>
              <a:t>Fix P0 (F-1…F-4)</a:t>
            </a:r>
            <a:endParaRPr lang="en-US" sz="1700" dirty="0"/>
          </a:p>
        </p:txBody>
      </p:sp>
      <p:sp>
        <p:nvSpPr>
          <p:cNvPr id="13" name="Text 11"/>
          <p:cNvSpPr/>
          <p:nvPr/>
        </p:nvSpPr>
        <p:spPr>
          <a:xfrm>
            <a:off x="3547872" y="3200400"/>
            <a:ext cx="2286000" cy="914400"/>
          </a:xfrm>
          <a:prstGeom prst="rect">
            <a:avLst/>
          </a:prstGeom>
          <a:noFill/>
          <a:ln/>
        </p:spPr>
        <p:txBody>
          <a:bodyPr wrap="square" lIns="0" tIns="0" rIns="0" bIns="0" rtlCol="0" anchor="t"/>
          <a:lstStyle/>
          <a:p>
            <a:pPr indent="0" marL="0">
              <a:buNone/>
            </a:pPr>
            <a:r>
              <a:rPr lang="en-US" sz="1200" dirty="0">
                <a:solidFill>
                  <a:srgbClr val="9AA6BE"/>
                </a:solidFill>
                <a:latin typeface="Calibri" pitchFamily="34" charset="0"/>
                <a:ea typeface="Calibri" pitchFamily="34" charset="-122"/>
                <a:cs typeface="Calibri" pitchFamily="34" charset="-120"/>
              </a:rPr>
              <a:t>Server auth, RBAC/RLS, audit, secrets.</a:t>
            </a:r>
            <a:endParaRPr lang="en-US" sz="1200" dirty="0"/>
          </a:p>
        </p:txBody>
      </p:sp>
      <p:sp>
        <p:nvSpPr>
          <p:cNvPr id="14" name="Text 12"/>
          <p:cNvSpPr/>
          <p:nvPr/>
        </p:nvSpPr>
        <p:spPr>
          <a:xfrm>
            <a:off x="5907024" y="2651760"/>
            <a:ext cx="457200" cy="548640"/>
          </a:xfrm>
          <a:prstGeom prst="rect">
            <a:avLst/>
          </a:prstGeom>
          <a:noFill/>
          <a:ln/>
        </p:spPr>
        <p:txBody>
          <a:bodyPr wrap="square" rtlCol="0" anchor="ctr"/>
          <a:lstStyle/>
          <a:p>
            <a:pPr algn="ctr" indent="0" marL="0">
              <a:buNone/>
            </a:pPr>
            <a:r>
              <a:rPr lang="en-US" sz="2600" b="1" dirty="0">
                <a:solidFill>
                  <a:srgbClr val="5C6784"/>
                </a:solidFill>
                <a:latin typeface="Calibri" pitchFamily="34" charset="0"/>
                <a:ea typeface="Calibri" pitchFamily="34" charset="-122"/>
                <a:cs typeface="Calibri" pitchFamily="34" charset="-120"/>
              </a:rPr>
              <a:t>→</a:t>
            </a:r>
            <a:endParaRPr lang="en-US" sz="2600" dirty="0"/>
          </a:p>
        </p:txBody>
      </p:sp>
      <p:sp>
        <p:nvSpPr>
          <p:cNvPr id="15" name="Shape 13"/>
          <p:cNvSpPr/>
          <p:nvPr/>
        </p:nvSpPr>
        <p:spPr>
          <a:xfrm>
            <a:off x="6181344" y="1828800"/>
            <a:ext cx="2606040" cy="2468880"/>
          </a:xfrm>
          <a:prstGeom prst="roundRect">
            <a:avLst>
              <a:gd name="adj" fmla="val 3704"/>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16" name="Text 14"/>
          <p:cNvSpPr/>
          <p:nvPr/>
        </p:nvSpPr>
        <p:spPr>
          <a:xfrm>
            <a:off x="6364224" y="2011680"/>
            <a:ext cx="2286000" cy="274320"/>
          </a:xfrm>
          <a:prstGeom prst="rect">
            <a:avLst/>
          </a:prstGeom>
          <a:noFill/>
          <a:ln/>
        </p:spPr>
        <p:txBody>
          <a:bodyPr wrap="square" rtlCol="0" anchor="ctr"/>
          <a:lstStyle/>
          <a:p>
            <a:pPr indent="0" marL="0">
              <a:buNone/>
            </a:pPr>
            <a:r>
              <a:rPr lang="en-US" sz="1100" b="1" spc="200" kern="0" dirty="0">
                <a:solidFill>
                  <a:srgbClr val="E4C23B"/>
                </a:solidFill>
                <a:latin typeface="Calibri" pitchFamily="34" charset="0"/>
                <a:ea typeface="Calibri" pitchFamily="34" charset="-122"/>
                <a:cs typeface="Calibri" pitchFamily="34" charset="-120"/>
              </a:rPr>
              <a:t>STEP 2</a:t>
            </a:r>
            <a:endParaRPr lang="en-US" sz="1100" dirty="0"/>
          </a:p>
        </p:txBody>
      </p:sp>
      <p:sp>
        <p:nvSpPr>
          <p:cNvPr id="17" name="Text 15"/>
          <p:cNvSpPr/>
          <p:nvPr/>
        </p:nvSpPr>
        <p:spPr>
          <a:xfrm>
            <a:off x="6364224" y="2331720"/>
            <a:ext cx="2286000" cy="685800"/>
          </a:xfrm>
          <a:prstGeom prst="rect">
            <a:avLst/>
          </a:prstGeom>
          <a:noFill/>
          <a:ln/>
        </p:spPr>
        <p:txBody>
          <a:bodyPr wrap="square" lIns="0" tIns="0" rIns="0" bIns="0" rtlCol="0" anchor="t"/>
          <a:lstStyle/>
          <a:p>
            <a:pPr indent="0" marL="0">
              <a:buNone/>
            </a:pPr>
            <a:r>
              <a:rPr lang="en-US" sz="1700" b="1" dirty="0">
                <a:solidFill>
                  <a:srgbClr val="EAF0FB"/>
                </a:solidFill>
                <a:latin typeface="Cambria" pitchFamily="34" charset="0"/>
                <a:ea typeface="Cambria" pitchFamily="34" charset="-122"/>
                <a:cs typeface="Cambria" pitchFamily="34" charset="-120"/>
              </a:rPr>
              <a:t>Fix P1 + network controls</a:t>
            </a:r>
            <a:endParaRPr lang="en-US" sz="1700" dirty="0"/>
          </a:p>
        </p:txBody>
      </p:sp>
      <p:sp>
        <p:nvSpPr>
          <p:cNvPr id="18" name="Text 16"/>
          <p:cNvSpPr/>
          <p:nvPr/>
        </p:nvSpPr>
        <p:spPr>
          <a:xfrm>
            <a:off x="6364224" y="3200400"/>
            <a:ext cx="2286000" cy="914400"/>
          </a:xfrm>
          <a:prstGeom prst="rect">
            <a:avLst/>
          </a:prstGeom>
          <a:noFill/>
          <a:ln/>
        </p:spPr>
        <p:txBody>
          <a:bodyPr wrap="square" lIns="0" tIns="0" rIns="0" bIns="0" rtlCol="0" anchor="t"/>
          <a:lstStyle/>
          <a:p>
            <a:pPr indent="0" marL="0">
              <a:buNone/>
            </a:pPr>
            <a:r>
              <a:rPr lang="en-US" sz="1200" dirty="0">
                <a:solidFill>
                  <a:srgbClr val="9AA6BE"/>
                </a:solidFill>
                <a:latin typeface="Calibri" pitchFamily="34" charset="0"/>
                <a:ea typeface="Calibri" pitchFamily="34" charset="-122"/>
                <a:cs typeface="Calibri" pitchFamily="34" charset="-120"/>
              </a:rPr>
              <a:t>TLS/HSTS, WAF, headers, validation.</a:t>
            </a:r>
            <a:endParaRPr lang="en-US" sz="1200" dirty="0"/>
          </a:p>
        </p:txBody>
      </p:sp>
      <p:sp>
        <p:nvSpPr>
          <p:cNvPr id="19" name="Text 17"/>
          <p:cNvSpPr/>
          <p:nvPr/>
        </p:nvSpPr>
        <p:spPr>
          <a:xfrm>
            <a:off x="8723376" y="2651760"/>
            <a:ext cx="457200" cy="548640"/>
          </a:xfrm>
          <a:prstGeom prst="rect">
            <a:avLst/>
          </a:prstGeom>
          <a:noFill/>
          <a:ln/>
        </p:spPr>
        <p:txBody>
          <a:bodyPr wrap="square" rtlCol="0" anchor="ctr"/>
          <a:lstStyle/>
          <a:p>
            <a:pPr algn="ctr" indent="0" marL="0">
              <a:buNone/>
            </a:pPr>
            <a:r>
              <a:rPr lang="en-US" sz="2600" b="1" dirty="0">
                <a:solidFill>
                  <a:srgbClr val="5C6784"/>
                </a:solidFill>
                <a:latin typeface="Calibri" pitchFamily="34" charset="0"/>
                <a:ea typeface="Calibri" pitchFamily="34" charset="-122"/>
                <a:cs typeface="Calibri" pitchFamily="34" charset="-120"/>
              </a:rPr>
              <a:t>→</a:t>
            </a:r>
            <a:endParaRPr lang="en-US" sz="2600" dirty="0"/>
          </a:p>
        </p:txBody>
      </p:sp>
      <p:sp>
        <p:nvSpPr>
          <p:cNvPr id="20" name="Shape 18"/>
          <p:cNvSpPr/>
          <p:nvPr/>
        </p:nvSpPr>
        <p:spPr>
          <a:xfrm>
            <a:off x="8997696" y="1828800"/>
            <a:ext cx="2606040" cy="2468880"/>
          </a:xfrm>
          <a:prstGeom prst="roundRect">
            <a:avLst>
              <a:gd name="adj" fmla="val 3704"/>
            </a:avLst>
          </a:prstGeom>
          <a:solidFill>
            <a:srgbClr val="18233B"/>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21" name="Text 19"/>
          <p:cNvSpPr/>
          <p:nvPr/>
        </p:nvSpPr>
        <p:spPr>
          <a:xfrm>
            <a:off x="9180576" y="2011680"/>
            <a:ext cx="2286000" cy="274320"/>
          </a:xfrm>
          <a:prstGeom prst="rect">
            <a:avLst/>
          </a:prstGeom>
          <a:noFill/>
          <a:ln/>
        </p:spPr>
        <p:txBody>
          <a:bodyPr wrap="square" rtlCol="0" anchor="ctr"/>
          <a:lstStyle/>
          <a:p>
            <a:pPr indent="0" marL="0">
              <a:buNone/>
            </a:pPr>
            <a:r>
              <a:rPr lang="en-US" sz="1100" b="1" spc="200" kern="0" dirty="0">
                <a:solidFill>
                  <a:srgbClr val="3FB27F"/>
                </a:solidFill>
                <a:latin typeface="Calibri" pitchFamily="34" charset="0"/>
                <a:ea typeface="Calibri" pitchFamily="34" charset="-122"/>
                <a:cs typeface="Calibri" pitchFamily="34" charset="-120"/>
              </a:rPr>
              <a:t>TARGET</a:t>
            </a:r>
            <a:endParaRPr lang="en-US" sz="1100" dirty="0"/>
          </a:p>
        </p:txBody>
      </p:sp>
      <p:sp>
        <p:nvSpPr>
          <p:cNvPr id="22" name="Text 20"/>
          <p:cNvSpPr/>
          <p:nvPr/>
        </p:nvSpPr>
        <p:spPr>
          <a:xfrm>
            <a:off x="9180576" y="2331720"/>
            <a:ext cx="2286000" cy="685800"/>
          </a:xfrm>
          <a:prstGeom prst="rect">
            <a:avLst/>
          </a:prstGeom>
          <a:noFill/>
          <a:ln/>
        </p:spPr>
        <p:txBody>
          <a:bodyPr wrap="square" lIns="0" tIns="0" rIns="0" bIns="0" rtlCol="0" anchor="t"/>
          <a:lstStyle/>
          <a:p>
            <a:pPr indent="0" marL="0">
              <a:buNone/>
            </a:pPr>
            <a:r>
              <a:rPr lang="en-US" sz="1700" b="1" dirty="0">
                <a:solidFill>
                  <a:srgbClr val="EAF0FB"/>
                </a:solidFill>
                <a:latin typeface="Cambria" pitchFamily="34" charset="0"/>
                <a:ea typeface="Cambria" pitchFamily="34" charset="-122"/>
                <a:cs typeface="Cambria" pitchFamily="34" charset="-120"/>
              </a:rPr>
              <a:t>Level 4–5 — Hardened</a:t>
            </a:r>
            <a:endParaRPr lang="en-US" sz="1700" dirty="0"/>
          </a:p>
        </p:txBody>
      </p:sp>
      <p:sp>
        <p:nvSpPr>
          <p:cNvPr id="23" name="Text 21"/>
          <p:cNvSpPr/>
          <p:nvPr/>
        </p:nvSpPr>
        <p:spPr>
          <a:xfrm>
            <a:off x="9180576" y="3200400"/>
            <a:ext cx="2286000" cy="914400"/>
          </a:xfrm>
          <a:prstGeom prst="rect">
            <a:avLst/>
          </a:prstGeom>
          <a:noFill/>
          <a:ln/>
        </p:spPr>
        <p:txBody>
          <a:bodyPr wrap="square" lIns="0" tIns="0" rIns="0" bIns="0" rtlCol="0" anchor="t"/>
          <a:lstStyle/>
          <a:p>
            <a:pPr indent="0" marL="0">
              <a:buNone/>
            </a:pPr>
            <a:r>
              <a:rPr lang="en-US" sz="1200" dirty="0">
                <a:solidFill>
                  <a:srgbClr val="9AA6BE"/>
                </a:solidFill>
                <a:latin typeface="Calibri" pitchFamily="34" charset="0"/>
                <a:ea typeface="Calibri" pitchFamily="34" charset="-122"/>
                <a:cs typeface="Calibri" pitchFamily="34" charset="-120"/>
              </a:rPr>
              <a:t>Monitoring, CI gates, pen-test, assured.</a:t>
            </a:r>
            <a:endParaRPr lang="en-US" sz="1200" dirty="0"/>
          </a:p>
        </p:txBody>
      </p:sp>
      <p:sp>
        <p:nvSpPr>
          <p:cNvPr id="24" name="Shape 22"/>
          <p:cNvSpPr/>
          <p:nvPr/>
        </p:nvSpPr>
        <p:spPr>
          <a:xfrm>
            <a:off x="548640" y="4572000"/>
            <a:ext cx="11091672" cy="1600200"/>
          </a:xfrm>
          <a:prstGeom prst="roundRect">
            <a:avLst>
              <a:gd name="adj" fmla="val 5714"/>
            </a:avLst>
          </a:prstGeom>
          <a:solidFill>
            <a:srgbClr val="1F2E4D"/>
          </a:solidFill>
          <a:ln w="12700">
            <a:solidFill>
              <a:srgbClr val="2A3A5C"/>
            </a:solidFill>
            <a:prstDash val="solid"/>
          </a:ln>
          <a:effectLst>
            <a:outerShdw sx="100000" sy="100000" kx="0" ky="0" algn="bl" rotWithShape="0" blurRad="127000" dist="38100" dir="5400000">
              <a:srgbClr val="05070D">
                <a:alpha val="45000"/>
              </a:srgbClr>
            </a:outerShdw>
          </a:effectLst>
        </p:spPr>
      </p:sp>
      <p:sp>
        <p:nvSpPr>
          <p:cNvPr id="25" name="Text 23"/>
          <p:cNvSpPr/>
          <p:nvPr/>
        </p:nvSpPr>
        <p:spPr>
          <a:xfrm>
            <a:off x="822960" y="4709160"/>
            <a:ext cx="10058400" cy="320040"/>
          </a:xfrm>
          <a:prstGeom prst="rect">
            <a:avLst/>
          </a:prstGeom>
          <a:noFill/>
          <a:ln/>
        </p:spPr>
        <p:txBody>
          <a:bodyPr wrap="square" rtlCol="0" anchor="ctr"/>
          <a:lstStyle/>
          <a:p>
            <a:pPr indent="0" marL="0">
              <a:buNone/>
            </a:pPr>
            <a:r>
              <a:rPr lang="en-US" sz="1600" b="1" dirty="0">
                <a:solidFill>
                  <a:srgbClr val="39C0C8"/>
                </a:solidFill>
                <a:latin typeface="Cambria" pitchFamily="34" charset="0"/>
                <a:ea typeface="Cambria" pitchFamily="34" charset="-122"/>
                <a:cs typeface="Cambria" pitchFamily="34" charset="-120"/>
              </a:rPr>
              <a:t>The verdict, plainly</a:t>
            </a:r>
            <a:endParaRPr lang="en-US" sz="1600" dirty="0"/>
          </a:p>
        </p:txBody>
      </p:sp>
      <p:sp>
        <p:nvSpPr>
          <p:cNvPr id="26" name="Text 24"/>
          <p:cNvSpPr/>
          <p:nvPr/>
        </p:nvSpPr>
        <p:spPr>
          <a:xfrm>
            <a:off x="822960" y="5074920"/>
            <a:ext cx="10515600" cy="960120"/>
          </a:xfrm>
          <a:prstGeom prst="rect">
            <a:avLst/>
          </a:prstGeom>
          <a:noFill/>
          <a:ln/>
        </p:spPr>
        <p:txBody>
          <a:bodyPr wrap="square" rtlCol="0" anchor="t"/>
          <a:lstStyle/>
          <a:p>
            <a:pPr indent="0" marL="0">
              <a:lnSpc>
                <a:spcPct val="120000"/>
              </a:lnSpc>
              <a:buNone/>
            </a:pPr>
            <a:r>
              <a:rPr lang="en-US" sz="1450" b="1" dirty="0">
                <a:solidFill>
                  <a:srgbClr val="E23A4E"/>
                </a:solidFill>
                <a:latin typeface="Calibri" pitchFamily="34" charset="0"/>
                <a:ea typeface="Calibri" pitchFamily="34" charset="-122"/>
                <a:cs typeface="Calibri" pitchFamily="34" charset="-120"/>
              </a:rPr>
              <a:t>Not secure today</a:t>
            </a:r>
            <a:pPr indent="0" marL="0">
              <a:lnSpc>
                <a:spcPct val="120000"/>
              </a:lnSpc>
              <a:buNone/>
            </a:pPr>
            <a:r>
              <a:rPr lang="en-US" sz="1450" dirty="0">
                <a:solidFill>
                  <a:srgbClr val="EAF0FB"/>
                </a:solidFill>
                <a:latin typeface="Calibri" pitchFamily="34" charset="0"/>
                <a:ea typeface="Calibri" pitchFamily="34" charset="-122"/>
                <a:cs typeface="Calibri" pitchFamily="34" charset="-120"/>
              </a:rPr>
              <a:t> for real PII/payroll — but the remediation is well-scoped, because a secure design already exists in the codebase. Confidence in this assessment is </a:t>
            </a:r>
            <a:pPr indent="0" marL="0">
              <a:lnSpc>
                <a:spcPct val="120000"/>
              </a:lnSpc>
              <a:buNone/>
            </a:pPr>
            <a:r>
              <a:rPr lang="en-US" sz="1450" b="1" dirty="0">
                <a:solidFill>
                  <a:srgbClr val="3FB27F"/>
                </a:solidFill>
                <a:latin typeface="Calibri" pitchFamily="34" charset="0"/>
                <a:ea typeface="Calibri" pitchFamily="34" charset="-122"/>
                <a:cs typeface="Calibri" pitchFamily="34" charset="-120"/>
              </a:rPr>
              <a:t>high (~95%)</a:t>
            </a:r>
            <a:pPr indent="0" marL="0">
              <a:lnSpc>
                <a:spcPct val="120000"/>
              </a:lnSpc>
              <a:buNone/>
            </a:pPr>
            <a:r>
              <a:rPr lang="en-US" sz="1450" dirty="0">
                <a:solidFill>
                  <a:srgbClr val="EAF0FB"/>
                </a:solidFill>
                <a:latin typeface="Calibri" pitchFamily="34" charset="0"/>
                <a:ea typeface="Calibri" pitchFamily="34" charset="-122"/>
                <a:cs typeface="Calibri" pitchFamily="34" charset="-120"/>
              </a:rPr>
              <a:t>. Fix the four Critical findings and P0 features first; layer the network controls; re-audit before go-live.</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2026-08-17T15:04:20Z</dcterms:created>
  <dcterms:modified xsi:type="dcterms:W3CDTF">2026-08-17T15:04:20Z</dcterms:modified>
</cp:coreProperties>
</file>